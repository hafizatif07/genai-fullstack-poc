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4"/>
  </p:notesMasterIdLst>
  <p:sldIdLst>
    <p:sldId id="284" r:id="rId2"/>
    <p:sldId id="26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4" r:id="rId12"/>
    <p:sldId id="295" r:id="rId13"/>
    <p:sldId id="308" r:id="rId14"/>
    <p:sldId id="296" r:id="rId15"/>
    <p:sldId id="297" r:id="rId16"/>
    <p:sldId id="300" r:id="rId17"/>
    <p:sldId id="298" r:id="rId18"/>
    <p:sldId id="299" r:id="rId19"/>
    <p:sldId id="301" r:id="rId20"/>
    <p:sldId id="302" r:id="rId21"/>
    <p:sldId id="303" r:id="rId22"/>
    <p:sldId id="304" r:id="rId23"/>
    <p:sldId id="310" r:id="rId24"/>
    <p:sldId id="311" r:id="rId25"/>
    <p:sldId id="312" r:id="rId26"/>
    <p:sldId id="309" r:id="rId27"/>
    <p:sldId id="313" r:id="rId28"/>
    <p:sldId id="314" r:id="rId29"/>
    <p:sldId id="305" r:id="rId30"/>
    <p:sldId id="306" r:id="rId31"/>
    <p:sldId id="307" r:id="rId32"/>
    <p:sldId id="315" r:id="rId33"/>
    <p:sldId id="316" r:id="rId34"/>
    <p:sldId id="317" r:id="rId35"/>
    <p:sldId id="318" r:id="rId36"/>
    <p:sldId id="319" r:id="rId37"/>
    <p:sldId id="320" r:id="rId38"/>
    <p:sldId id="323" r:id="rId39"/>
    <p:sldId id="321" r:id="rId40"/>
    <p:sldId id="322" r:id="rId41"/>
    <p:sldId id="325" r:id="rId42"/>
    <p:sldId id="324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2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55135F-AA6A-4FE7-B5A3-AB52DE92266F}" v="37" dt="2026-02-01T20:13:42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3"/>
    <p:restoredTop sz="94719"/>
  </p:normalViewPr>
  <p:slideViewPr>
    <p:cSldViewPr snapToGrid="0">
      <p:cViewPr varScale="1">
        <p:scale>
          <a:sx n="97" d="100"/>
          <a:sy n="97" d="100"/>
        </p:scale>
        <p:origin x="127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mood, Hafiz" userId="18238e4e-7e2b-4e05-bbf7-86d51a419a23" providerId="ADAL" clId="{BF66D714-9115-4DD6-B634-E048A95B02B0}"/>
    <pc:docChg chg="undo custSel addSld modSld sldOrd">
      <pc:chgData name="Mahmood, Hafiz" userId="18238e4e-7e2b-4e05-bbf7-86d51a419a23" providerId="ADAL" clId="{BF66D714-9115-4DD6-B634-E048A95B02B0}" dt="2026-02-01T20:18:44.033" v="338" actId="20577"/>
      <pc:docMkLst>
        <pc:docMk/>
      </pc:docMkLst>
      <pc:sldChg chg="modSp add mod">
        <pc:chgData name="Mahmood, Hafiz" userId="18238e4e-7e2b-4e05-bbf7-86d51a419a23" providerId="ADAL" clId="{BF66D714-9115-4DD6-B634-E048A95B02B0}" dt="2026-02-01T16:59:21.897" v="21" actId="20577"/>
        <pc:sldMkLst>
          <pc:docMk/>
          <pc:sldMk cId="1295103802" sldId="315"/>
        </pc:sldMkLst>
        <pc:spChg chg="mod">
          <ac:chgData name="Mahmood, Hafiz" userId="18238e4e-7e2b-4e05-bbf7-86d51a419a23" providerId="ADAL" clId="{BF66D714-9115-4DD6-B634-E048A95B02B0}" dt="2026-02-01T16:59:21.897" v="21" actId="20577"/>
          <ac:spMkLst>
            <pc:docMk/>
            <pc:sldMk cId="1295103802" sldId="315"/>
            <ac:spMk id="4" creationId="{76B8EC32-B340-9A6C-6E68-D085A95116A2}"/>
          </ac:spMkLst>
        </pc:spChg>
      </pc:sldChg>
      <pc:sldChg chg="modSp add mod">
        <pc:chgData name="Mahmood, Hafiz" userId="18238e4e-7e2b-4e05-bbf7-86d51a419a23" providerId="ADAL" clId="{BF66D714-9115-4DD6-B634-E048A95B02B0}" dt="2026-02-01T17:03:38.026" v="48" actId="20577"/>
        <pc:sldMkLst>
          <pc:docMk/>
          <pc:sldMk cId="798424559" sldId="316"/>
        </pc:sldMkLst>
        <pc:spChg chg="mod">
          <ac:chgData name="Mahmood, Hafiz" userId="18238e4e-7e2b-4e05-bbf7-86d51a419a23" providerId="ADAL" clId="{BF66D714-9115-4DD6-B634-E048A95B02B0}" dt="2026-02-01T16:59:42.916" v="28" actId="20577"/>
          <ac:spMkLst>
            <pc:docMk/>
            <pc:sldMk cId="798424559" sldId="316"/>
            <ac:spMk id="2" creationId="{F22938FC-1F7F-0EB6-0777-B15857792D1A}"/>
          </ac:spMkLst>
        </pc:spChg>
        <pc:spChg chg="mod">
          <ac:chgData name="Mahmood, Hafiz" userId="18238e4e-7e2b-4e05-bbf7-86d51a419a23" providerId="ADAL" clId="{BF66D714-9115-4DD6-B634-E048A95B02B0}" dt="2026-02-01T17:03:38.026" v="48" actId="20577"/>
          <ac:spMkLst>
            <pc:docMk/>
            <pc:sldMk cId="798424559" sldId="316"/>
            <ac:spMk id="3" creationId="{550188D9-E5B2-613E-569E-CA2A0DFEEFBD}"/>
          </ac:spMkLst>
        </pc:spChg>
      </pc:sldChg>
      <pc:sldChg chg="addSp modSp add mod">
        <pc:chgData name="Mahmood, Hafiz" userId="18238e4e-7e2b-4e05-bbf7-86d51a419a23" providerId="ADAL" clId="{BF66D714-9115-4DD6-B634-E048A95B02B0}" dt="2026-02-01T20:04:00.270" v="230" actId="14100"/>
        <pc:sldMkLst>
          <pc:docMk/>
          <pc:sldMk cId="2959389765" sldId="317"/>
        </pc:sldMkLst>
        <pc:spChg chg="mod">
          <ac:chgData name="Mahmood, Hafiz" userId="18238e4e-7e2b-4e05-bbf7-86d51a419a23" providerId="ADAL" clId="{BF66D714-9115-4DD6-B634-E048A95B02B0}" dt="2026-02-01T20:01:40.214" v="226" actId="20577"/>
          <ac:spMkLst>
            <pc:docMk/>
            <pc:sldMk cId="2959389765" sldId="317"/>
            <ac:spMk id="3" creationId="{7D127007-0FC3-870A-5F1D-B3D5ED4810D8}"/>
          </ac:spMkLst>
        </pc:spChg>
        <pc:spChg chg="add mod">
          <ac:chgData name="Mahmood, Hafiz" userId="18238e4e-7e2b-4e05-bbf7-86d51a419a23" providerId="ADAL" clId="{BF66D714-9115-4DD6-B634-E048A95B02B0}" dt="2026-02-01T17:04:55.221" v="56"/>
          <ac:spMkLst>
            <pc:docMk/>
            <pc:sldMk cId="2959389765" sldId="317"/>
            <ac:spMk id="4" creationId="{29051BF0-9B1D-8A00-2C3D-6DD895D7D9E5}"/>
          </ac:spMkLst>
        </pc:spChg>
        <pc:picChg chg="add mod">
          <ac:chgData name="Mahmood, Hafiz" userId="18238e4e-7e2b-4e05-bbf7-86d51a419a23" providerId="ADAL" clId="{BF66D714-9115-4DD6-B634-E048A95B02B0}" dt="2026-02-01T20:04:00.270" v="230" actId="14100"/>
          <ac:picMkLst>
            <pc:docMk/>
            <pc:sldMk cId="2959389765" sldId="317"/>
            <ac:picMk id="5" creationId="{A2F2FD5C-4EEA-66E2-CC62-FC7C5B47753D}"/>
          </ac:picMkLst>
        </pc:picChg>
      </pc:sldChg>
      <pc:sldChg chg="addSp modSp add mod">
        <pc:chgData name="Mahmood, Hafiz" userId="18238e4e-7e2b-4e05-bbf7-86d51a419a23" providerId="ADAL" clId="{BF66D714-9115-4DD6-B634-E048A95B02B0}" dt="2026-02-01T20:17:54.597" v="335" actId="20577"/>
        <pc:sldMkLst>
          <pc:docMk/>
          <pc:sldMk cId="3501361424" sldId="318"/>
        </pc:sldMkLst>
        <pc:spChg chg="mod">
          <ac:chgData name="Mahmood, Hafiz" userId="18238e4e-7e2b-4e05-bbf7-86d51a419a23" providerId="ADAL" clId="{BF66D714-9115-4DD6-B634-E048A95B02B0}" dt="2026-02-01T20:17:54.597" v="335" actId="20577"/>
          <ac:spMkLst>
            <pc:docMk/>
            <pc:sldMk cId="3501361424" sldId="318"/>
            <ac:spMk id="2" creationId="{4D579833-AE80-AE4A-04B8-B12454EAC0F8}"/>
          </ac:spMkLst>
        </pc:spChg>
        <pc:spChg chg="mod">
          <ac:chgData name="Mahmood, Hafiz" userId="18238e4e-7e2b-4e05-bbf7-86d51a419a23" providerId="ADAL" clId="{BF66D714-9115-4DD6-B634-E048A95B02B0}" dt="2026-02-01T20:17:40.469" v="333" actId="313"/>
          <ac:spMkLst>
            <pc:docMk/>
            <pc:sldMk cId="3501361424" sldId="318"/>
            <ac:spMk id="3" creationId="{D78C4C23-64D7-C205-C57A-E31154902F1B}"/>
          </ac:spMkLst>
        </pc:spChg>
        <pc:picChg chg="add mod">
          <ac:chgData name="Mahmood, Hafiz" userId="18238e4e-7e2b-4e05-bbf7-86d51a419a23" providerId="ADAL" clId="{BF66D714-9115-4DD6-B634-E048A95B02B0}" dt="2026-02-01T20:00:21.751" v="222" actId="14100"/>
          <ac:picMkLst>
            <pc:docMk/>
            <pc:sldMk cId="3501361424" sldId="318"/>
            <ac:picMk id="5" creationId="{A42B4A7B-7F81-18EA-0E06-9344963657C1}"/>
          </ac:picMkLst>
        </pc:picChg>
      </pc:sldChg>
      <pc:sldChg chg="addSp modSp add mod">
        <pc:chgData name="Mahmood, Hafiz" userId="18238e4e-7e2b-4e05-bbf7-86d51a419a23" providerId="ADAL" clId="{BF66D714-9115-4DD6-B634-E048A95B02B0}" dt="2026-02-01T20:05:05.975" v="238" actId="20577"/>
        <pc:sldMkLst>
          <pc:docMk/>
          <pc:sldMk cId="1355137874" sldId="319"/>
        </pc:sldMkLst>
        <pc:spChg chg="mod">
          <ac:chgData name="Mahmood, Hafiz" userId="18238e4e-7e2b-4e05-bbf7-86d51a419a23" providerId="ADAL" clId="{BF66D714-9115-4DD6-B634-E048A95B02B0}" dt="2026-02-01T20:05:05.975" v="238" actId="20577"/>
          <ac:spMkLst>
            <pc:docMk/>
            <pc:sldMk cId="1355137874" sldId="319"/>
            <ac:spMk id="2" creationId="{09C14A62-DA85-425A-0579-F61FCD5E1011}"/>
          </ac:spMkLst>
        </pc:spChg>
        <pc:spChg chg="mod">
          <ac:chgData name="Mahmood, Hafiz" userId="18238e4e-7e2b-4e05-bbf7-86d51a419a23" providerId="ADAL" clId="{BF66D714-9115-4DD6-B634-E048A95B02B0}" dt="2026-02-01T19:58:31.370" v="209" actId="20577"/>
          <ac:spMkLst>
            <pc:docMk/>
            <pc:sldMk cId="1355137874" sldId="319"/>
            <ac:spMk id="3" creationId="{FE82A38A-DCB2-84AB-B137-B0E37173DE01}"/>
          </ac:spMkLst>
        </pc:spChg>
        <pc:picChg chg="add mod">
          <ac:chgData name="Mahmood, Hafiz" userId="18238e4e-7e2b-4e05-bbf7-86d51a419a23" providerId="ADAL" clId="{BF66D714-9115-4DD6-B634-E048A95B02B0}" dt="2026-02-01T19:58:59.261" v="213" actId="14100"/>
          <ac:picMkLst>
            <pc:docMk/>
            <pc:sldMk cId="1355137874" sldId="319"/>
            <ac:picMk id="5" creationId="{B39CE892-0D99-722B-67CF-9ADEEB8A7E73}"/>
          </ac:picMkLst>
        </pc:picChg>
      </pc:sldChg>
      <pc:sldChg chg="addSp modSp add mod">
        <pc:chgData name="Mahmood, Hafiz" userId="18238e4e-7e2b-4e05-bbf7-86d51a419a23" providerId="ADAL" clId="{BF66D714-9115-4DD6-B634-E048A95B02B0}" dt="2026-02-01T20:05:28.710" v="243" actId="20577"/>
        <pc:sldMkLst>
          <pc:docMk/>
          <pc:sldMk cId="1458757690" sldId="320"/>
        </pc:sldMkLst>
        <pc:spChg chg="mod">
          <ac:chgData name="Mahmood, Hafiz" userId="18238e4e-7e2b-4e05-bbf7-86d51a419a23" providerId="ADAL" clId="{BF66D714-9115-4DD6-B634-E048A95B02B0}" dt="2026-02-01T20:05:28.710" v="243" actId="20577"/>
          <ac:spMkLst>
            <pc:docMk/>
            <pc:sldMk cId="1458757690" sldId="320"/>
            <ac:spMk id="2" creationId="{BE7D0511-3BD1-19C2-3E78-C70EF1247D79}"/>
          </ac:spMkLst>
        </pc:spChg>
        <pc:spChg chg="mod">
          <ac:chgData name="Mahmood, Hafiz" userId="18238e4e-7e2b-4e05-bbf7-86d51a419a23" providerId="ADAL" clId="{BF66D714-9115-4DD6-B634-E048A95B02B0}" dt="2026-02-01T19:56:50.707" v="193" actId="20577"/>
          <ac:spMkLst>
            <pc:docMk/>
            <pc:sldMk cId="1458757690" sldId="320"/>
            <ac:spMk id="3" creationId="{E49ED704-F07C-7B7E-62FD-562AB3D2C2DC}"/>
          </ac:spMkLst>
        </pc:spChg>
        <pc:picChg chg="add mod">
          <ac:chgData name="Mahmood, Hafiz" userId="18238e4e-7e2b-4e05-bbf7-86d51a419a23" providerId="ADAL" clId="{BF66D714-9115-4DD6-B634-E048A95B02B0}" dt="2026-02-01T19:56:57.454" v="197" actId="14100"/>
          <ac:picMkLst>
            <pc:docMk/>
            <pc:sldMk cId="1458757690" sldId="320"/>
            <ac:picMk id="5" creationId="{E15EC405-842D-A776-C637-AB1F166A6CD0}"/>
          </ac:picMkLst>
        </pc:picChg>
        <pc:picChg chg="add mod">
          <ac:chgData name="Mahmood, Hafiz" userId="18238e4e-7e2b-4e05-bbf7-86d51a419a23" providerId="ADAL" clId="{BF66D714-9115-4DD6-B634-E048A95B02B0}" dt="2026-02-01T19:57:37.977" v="207" actId="1076"/>
          <ac:picMkLst>
            <pc:docMk/>
            <pc:sldMk cId="1458757690" sldId="320"/>
            <ac:picMk id="7" creationId="{74E1CAAA-EF8F-63AA-80DA-4ECA7884E4A8}"/>
          </ac:picMkLst>
        </pc:picChg>
      </pc:sldChg>
      <pc:sldChg chg="addSp modSp add mod">
        <pc:chgData name="Mahmood, Hafiz" userId="18238e4e-7e2b-4e05-bbf7-86d51a419a23" providerId="ADAL" clId="{BF66D714-9115-4DD6-B634-E048A95B02B0}" dt="2026-02-01T19:53:22.777" v="180" actId="14100"/>
        <pc:sldMkLst>
          <pc:docMk/>
          <pc:sldMk cId="669017111" sldId="321"/>
        </pc:sldMkLst>
        <pc:spChg chg="mod">
          <ac:chgData name="Mahmood, Hafiz" userId="18238e4e-7e2b-4e05-bbf7-86d51a419a23" providerId="ADAL" clId="{BF66D714-9115-4DD6-B634-E048A95B02B0}" dt="2026-02-01T19:50:59.043" v="166" actId="20577"/>
          <ac:spMkLst>
            <pc:docMk/>
            <pc:sldMk cId="669017111" sldId="321"/>
            <ac:spMk id="2" creationId="{E5555CDD-3757-1231-C042-42627F41F5B5}"/>
          </ac:spMkLst>
        </pc:spChg>
        <pc:spChg chg="mod">
          <ac:chgData name="Mahmood, Hafiz" userId="18238e4e-7e2b-4e05-bbf7-86d51a419a23" providerId="ADAL" clId="{BF66D714-9115-4DD6-B634-E048A95B02B0}" dt="2026-02-01T17:13:34.349" v="117" actId="20577"/>
          <ac:spMkLst>
            <pc:docMk/>
            <pc:sldMk cId="669017111" sldId="321"/>
            <ac:spMk id="3" creationId="{BC7AC214-CFC8-2CA4-ABE3-A8D132CEB255}"/>
          </ac:spMkLst>
        </pc:spChg>
        <pc:spChg chg="add mod">
          <ac:chgData name="Mahmood, Hafiz" userId="18238e4e-7e2b-4e05-bbf7-86d51a419a23" providerId="ADAL" clId="{BF66D714-9115-4DD6-B634-E048A95B02B0}" dt="2026-02-01T19:52:42.143" v="177"/>
          <ac:spMkLst>
            <pc:docMk/>
            <pc:sldMk cId="669017111" sldId="321"/>
            <ac:spMk id="4" creationId="{1A2E6F75-69D1-38E4-3DDD-BEC7BE7FE74E}"/>
          </ac:spMkLst>
        </pc:spChg>
        <pc:picChg chg="add mod">
          <ac:chgData name="Mahmood, Hafiz" userId="18238e4e-7e2b-4e05-bbf7-86d51a419a23" providerId="ADAL" clId="{BF66D714-9115-4DD6-B634-E048A95B02B0}" dt="2026-02-01T19:53:22.777" v="180" actId="14100"/>
          <ac:picMkLst>
            <pc:docMk/>
            <pc:sldMk cId="669017111" sldId="321"/>
            <ac:picMk id="6" creationId="{A67C36DB-C091-318C-8338-E55EB0EADCAD}"/>
          </ac:picMkLst>
        </pc:picChg>
      </pc:sldChg>
      <pc:sldChg chg="addSp modSp add mod">
        <pc:chgData name="Mahmood, Hafiz" userId="18238e4e-7e2b-4e05-bbf7-86d51a419a23" providerId="ADAL" clId="{BF66D714-9115-4DD6-B634-E048A95B02B0}" dt="2026-02-01T20:18:44.033" v="338" actId="20577"/>
        <pc:sldMkLst>
          <pc:docMk/>
          <pc:sldMk cId="1834763470" sldId="322"/>
        </pc:sldMkLst>
        <pc:spChg chg="mod">
          <ac:chgData name="Mahmood, Hafiz" userId="18238e4e-7e2b-4e05-bbf7-86d51a419a23" providerId="ADAL" clId="{BF66D714-9115-4DD6-B634-E048A95B02B0}" dt="2026-02-01T20:18:44.033" v="338" actId="20577"/>
          <ac:spMkLst>
            <pc:docMk/>
            <pc:sldMk cId="1834763470" sldId="322"/>
            <ac:spMk id="2" creationId="{AA314D9D-6209-62FB-2A1A-3B9B28311732}"/>
          </ac:spMkLst>
        </pc:spChg>
        <pc:spChg chg="mod">
          <ac:chgData name="Mahmood, Hafiz" userId="18238e4e-7e2b-4e05-bbf7-86d51a419a23" providerId="ADAL" clId="{BF66D714-9115-4DD6-B634-E048A95B02B0}" dt="2026-02-01T20:06:43.412" v="244" actId="20577"/>
          <ac:spMkLst>
            <pc:docMk/>
            <pc:sldMk cId="1834763470" sldId="322"/>
            <ac:spMk id="3" creationId="{D61BA5FF-8964-B150-AD28-903624461028}"/>
          </ac:spMkLst>
        </pc:spChg>
        <pc:spChg chg="mod">
          <ac:chgData name="Mahmood, Hafiz" userId="18238e4e-7e2b-4e05-bbf7-86d51a419a23" providerId="ADAL" clId="{BF66D714-9115-4DD6-B634-E048A95B02B0}" dt="2026-02-01T17:17:25.029" v="145" actId="20577"/>
          <ac:spMkLst>
            <pc:docMk/>
            <pc:sldMk cId="1834763470" sldId="322"/>
            <ac:spMk id="4" creationId="{DDCFADCE-98BF-A031-9FA2-B20AA217480E}"/>
          </ac:spMkLst>
        </pc:spChg>
        <pc:spChg chg="add mod">
          <ac:chgData name="Mahmood, Hafiz" userId="18238e4e-7e2b-4e05-bbf7-86d51a419a23" providerId="ADAL" clId="{BF66D714-9115-4DD6-B634-E048A95B02B0}" dt="2026-02-01T20:17:26.226" v="332" actId="14100"/>
          <ac:spMkLst>
            <pc:docMk/>
            <pc:sldMk cId="1834763470" sldId="322"/>
            <ac:spMk id="6" creationId="{A86452B4-3B8C-B465-36F4-522F8DE8ED09}"/>
          </ac:spMkLst>
        </pc:spChg>
      </pc:sldChg>
      <pc:sldChg chg="addSp modSp add mod ord">
        <pc:chgData name="Mahmood, Hafiz" userId="18238e4e-7e2b-4e05-bbf7-86d51a419a23" providerId="ADAL" clId="{BF66D714-9115-4DD6-B634-E048A95B02B0}" dt="2026-02-01T19:55:10.166" v="190" actId="14100"/>
        <pc:sldMkLst>
          <pc:docMk/>
          <pc:sldMk cId="1931415753" sldId="323"/>
        </pc:sldMkLst>
        <pc:spChg chg="mod">
          <ac:chgData name="Mahmood, Hafiz" userId="18238e4e-7e2b-4e05-bbf7-86d51a419a23" providerId="ADAL" clId="{BF66D714-9115-4DD6-B634-E048A95B02B0}" dt="2026-02-01T19:50:45.582" v="163" actId="20577"/>
          <ac:spMkLst>
            <pc:docMk/>
            <pc:sldMk cId="1931415753" sldId="323"/>
            <ac:spMk id="2" creationId="{A10AFC92-46DC-4561-AEB6-E56D25894F45}"/>
          </ac:spMkLst>
        </pc:spChg>
        <pc:spChg chg="mod">
          <ac:chgData name="Mahmood, Hafiz" userId="18238e4e-7e2b-4e05-bbf7-86d51a419a23" providerId="ADAL" clId="{BF66D714-9115-4DD6-B634-E048A95B02B0}" dt="2026-02-01T19:54:50.346" v="184" actId="20577"/>
          <ac:spMkLst>
            <pc:docMk/>
            <pc:sldMk cId="1931415753" sldId="323"/>
            <ac:spMk id="4" creationId="{71EE3963-69B2-255A-3F25-A91A3F5394F4}"/>
          </ac:spMkLst>
        </pc:spChg>
        <pc:picChg chg="add mod">
          <ac:chgData name="Mahmood, Hafiz" userId="18238e4e-7e2b-4e05-bbf7-86d51a419a23" providerId="ADAL" clId="{BF66D714-9115-4DD6-B634-E048A95B02B0}" dt="2026-02-01T19:55:10.166" v="190" actId="14100"/>
          <ac:picMkLst>
            <pc:docMk/>
            <pc:sldMk cId="1931415753" sldId="323"/>
            <ac:picMk id="6" creationId="{36898A25-31BF-157E-0C25-5EE4867CF4DE}"/>
          </ac:picMkLst>
        </pc:picChg>
      </pc:sldChg>
      <pc:sldChg chg="addSp modSp add mod">
        <pc:chgData name="Mahmood, Hafiz" userId="18238e4e-7e2b-4e05-bbf7-86d51a419a23" providerId="ADAL" clId="{BF66D714-9115-4DD6-B634-E048A95B02B0}" dt="2026-02-01T20:08:58.275" v="249" actId="14100"/>
        <pc:sldMkLst>
          <pc:docMk/>
          <pc:sldMk cId="1839389817" sldId="324"/>
        </pc:sldMkLst>
        <pc:picChg chg="add mod">
          <ac:chgData name="Mahmood, Hafiz" userId="18238e4e-7e2b-4e05-bbf7-86d51a419a23" providerId="ADAL" clId="{BF66D714-9115-4DD6-B634-E048A95B02B0}" dt="2026-02-01T20:08:58.275" v="249" actId="14100"/>
          <ac:picMkLst>
            <pc:docMk/>
            <pc:sldMk cId="1839389817" sldId="324"/>
            <ac:picMk id="6" creationId="{30A5FAB3-8741-A329-0F85-D26786E35557}"/>
          </ac:picMkLst>
        </pc:picChg>
      </pc:sldChg>
      <pc:sldChg chg="modSp add mod">
        <pc:chgData name="Mahmood, Hafiz" userId="18238e4e-7e2b-4e05-bbf7-86d51a419a23" providerId="ADAL" clId="{BF66D714-9115-4DD6-B634-E048A95B02B0}" dt="2026-02-01T20:15:53.411" v="325" actId="20577"/>
        <pc:sldMkLst>
          <pc:docMk/>
          <pc:sldMk cId="2405996796" sldId="325"/>
        </pc:sldMkLst>
        <pc:spChg chg="mod">
          <ac:chgData name="Mahmood, Hafiz" userId="18238e4e-7e2b-4e05-bbf7-86d51a419a23" providerId="ADAL" clId="{BF66D714-9115-4DD6-B634-E048A95B02B0}" dt="2026-02-01T20:15:53.411" v="325" actId="20577"/>
          <ac:spMkLst>
            <pc:docMk/>
            <pc:sldMk cId="2405996796" sldId="325"/>
            <ac:spMk id="6" creationId="{9DCE1B17-A509-AE16-ACCA-6771789295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DB7EA-1890-8D4E-8AF9-31CE9491B1F8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FC474C-FCBA-BD4A-B151-572BFB5FF5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7492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4E6933-E3E0-4942-A81F-60167C58F17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375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358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113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263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010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070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501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253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462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6950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8709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107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411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3928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60923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4335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4E6933-E3E0-4942-A81F-60167C58F17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40009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5224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6358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2171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2501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1532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5197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6200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1480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043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032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8866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9253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9590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5920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E3530-6794-CC59-3167-0FDBAC79C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974A6-A8C4-1397-3ADB-2632F6F7E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2F9EE-EA8A-4C2F-D470-764944E6F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5064F-75A3-4AA8-3D43-F6D44736C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4E6933-E3E0-4942-A81F-60167C58F17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15370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3CEE-057C-3981-A081-0946E7BC0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41BAE-A19C-0A13-CBF0-58A8841E3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4878D-87B4-E348-46B4-209C13497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C57B3-44F5-0CAB-755F-9EA4E6341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4030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59029-D146-BA45-B48A-3EB1A0B62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9BDD3-1EEF-98A3-4CB0-5A4A11A57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55103-19A1-C916-4D00-FB622F760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C1B3B-2F64-B8CF-F3A5-FD46B0D4C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8616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A6B16-2B75-4AC6-A6B7-7BB0B1C11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D8962-CDA4-A72E-8379-A72542108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8F057A-3497-3788-632E-5EDEEA026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B6CFA-DDDB-274C-0D51-9446F66F6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27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ED1B9-DFD2-8554-F7F6-711DAE88A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7407C-56AB-873A-83F9-57623A1A2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67DFB-3F8C-6311-D1BE-832E7BBA9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605EB-18C2-7717-19B3-EA77FB09F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9546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A07FC-D131-58AA-F317-F3CF3C5C3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51E08-5742-458B-1E14-E5BFB0E54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3D4247-83EB-8976-891A-D6BFF6756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8A3BB-BE2F-8752-2364-888B91C25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8850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036E7-6D25-3E46-265D-E9E4F1AA9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5F2D8C-7451-F547-581A-76E894B8C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DD43E-3C7E-0900-1E8B-77F761C3F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47821-8607-B962-8FD7-BBD89FAAB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03908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361E2-58AA-6CBA-7A0E-D1AACC85D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6D35E-0A9C-C44E-B9C6-B7B4B0C0B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1C89A-7A0F-F092-0970-90DF75436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21982-3CA6-E278-6B88-6FA02A668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20539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8DF2A-AE8D-A95C-391B-D042CD22F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3A678-042A-4B6F-6B18-2C2FFA38A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52E91-7CB7-579E-A587-15DF5972B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62AE9-C80F-CE0F-94D8-D43A012E9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5906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732B-4FBB-1263-3E1B-2A4B3523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BA25F-6D17-71D3-C4DB-D09DFCBA0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57592-4520-4085-DB76-447F7C05F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09104-F03C-B2DF-1511-C5B2A44A0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6512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6AD65-C2FD-4406-0852-C470AC29F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9E9E9-6230-A5A3-C016-9A9076F29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3E2C1-B197-44CB-B507-2C778AF80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6BA2F-C6AE-4425-3E88-EF3AA25D5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9876F-3BCE-5D4F-8061-3EC47FF884B3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837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2358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arge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EF6557B-1FAD-4B21-979D-AF32AE2ABE3A}" type="datetime2">
              <a:rPr lang="en-US" smtClean="0"/>
              <a:t>Sunday, February 1,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7DB53-62C4-4756-975D-61C7B1206CE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1A883-A380-48BD-9784-E5D4EAA2714C}"/>
              </a:ext>
            </a:extLst>
          </p:cNvPr>
          <p:cNvSpPr txBox="1"/>
          <p:nvPr userDrawn="1"/>
        </p:nvSpPr>
        <p:spPr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2980482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40F9C7A-78BC-46F0-AFA8-4D172477B3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133"/>
            <a:ext cx="12191999" cy="68558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478A323-60BF-4C40-B967-88365A75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674" y="1576573"/>
            <a:ext cx="5365250" cy="2221454"/>
          </a:xfrm>
        </p:spPr>
        <p:txBody>
          <a:bodyPr anchor="ctr"/>
          <a:lstStyle>
            <a:lvl1pPr algn="l">
              <a:defRPr sz="5399" spc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4B90A3-CB07-40D4-BF53-E01DB4A5BB21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463">
              <a:spcAft>
                <a:spcPts val="1200"/>
              </a:spcAft>
            </a:pPr>
            <a:endParaRPr lang="en-US" sz="1800" noProof="0">
              <a:latin typeface="Graphik Regular" panose="020B0503030202060203" pitchFamily="34" charset="-18"/>
            </a:endParaRP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8E976603-9D47-42A8-9E73-F7EB46FFB6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95457" y="6152069"/>
            <a:ext cx="3102015" cy="305415"/>
          </a:xfrm>
        </p:spPr>
        <p:txBody>
          <a:bodyPr/>
          <a:lstStyle>
            <a:lvl1pPr marL="0" indent="0" algn="r" defTabSz="913851" rtl="0" eaLnBrk="1" latinLnBrk="0" hangingPunct="1">
              <a:spcAft>
                <a:spcPts val="0"/>
              </a:spcAft>
              <a:buNone/>
              <a:defRPr lang="en-US" sz="1399" b="0" kern="1200" dirty="0" smtClean="0">
                <a:solidFill>
                  <a:schemeClr val="tx1"/>
                </a:solidFill>
                <a:latin typeface="Graphik Light" panose="020B0403030202060203" pitchFamily="34" charset="0"/>
                <a:ea typeface="+mn-ea"/>
                <a:cs typeface="+mn-cs"/>
              </a:defRPr>
            </a:lvl1pPr>
            <a:lvl2pPr marL="0" algn="l" defTabSz="913851" rtl="0" eaLnBrk="1" latinLnBrk="0" hangingPunct="1">
              <a:spcAft>
                <a:spcPts val="0"/>
              </a:spcAft>
              <a:defRPr lang="en-US" sz="1399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3851" rtl="0" eaLnBrk="1" latinLnBrk="0" hangingPunct="1">
              <a:spcAft>
                <a:spcPts val="0"/>
              </a:spcAft>
              <a:defRPr lang="en-US" sz="1399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3851" rtl="0" eaLnBrk="1" latinLnBrk="0" hangingPunct="1">
              <a:spcAft>
                <a:spcPts val="0"/>
              </a:spcAft>
              <a:defRPr lang="en-US" sz="1399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3851" rtl="0" eaLnBrk="1" latinLnBrk="0" hangingPunct="1">
              <a:spcAft>
                <a:spcPts val="0"/>
              </a:spcAft>
              <a:defRPr lang="en-US" sz="1399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Date | Presenter 14pt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524F9A86-F71F-4503-8D4E-55E36C881E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83" y="4334955"/>
            <a:ext cx="3980825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399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399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399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399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399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385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1B9E8373-A098-46E5-BF34-8989727DF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183" y="6452958"/>
            <a:ext cx="3176441" cy="1324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algn="l"/>
            <a:r>
              <a:rPr lang="en-US">
                <a:latin typeface="Graphik Regular" panose="020B0503030202060203" pitchFamily="34" charset="-18"/>
              </a:rPr>
              <a:t>Copyright © 202</a:t>
            </a:r>
            <a:r>
              <a:rPr lang="pl-PL">
                <a:latin typeface="Graphik Regular" panose="020B0503030202060203" pitchFamily="34" charset="-18"/>
              </a:rPr>
              <a:t>2</a:t>
            </a:r>
            <a:r>
              <a:rPr lang="en-US">
                <a:latin typeface="Graphik Regular" panose="020B0503030202060203" pitchFamily="34" charset="-18"/>
              </a:rPr>
              <a:t>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68738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 userDrawn="1"/>
        </p:nvSpPr>
        <p:spPr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2DB82-2141-42CD-9AE7-8A744B363FBC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noFill/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Sunday, February 1, 2026</a:t>
            </a:fld>
            <a:endParaRPr lang="en-US"/>
          </a:p>
        </p:txBody>
      </p:sp>
      <p:pic>
        <p:nvPicPr>
          <p:cNvPr id="6" name="Picture 5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306151F-579E-4A3E-8949-882557B1D7B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69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tags/default.as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hafiz.mahmood/AppData/Local/Programs/Microsoft%20VS%20Code/resources/app/out/vs/code/electron-browser/workbench/workbench.html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hafiz.mahmood/AppData/Local/Programs/Microsoft%20VS%20Code/resources/app/out/vs/code/electron-browser/workbench/workbench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C9125F-A107-DDA9-93A7-4B6FD93EA8D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46A17-0A22-AFDC-A143-E3CD51A349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>
                <a:latin typeface="+mj-lt"/>
              </a:rPr>
              <a:t>Accenture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0C3520-E8FA-8FE3-C0E4-39F2C68C4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1" y="1456376"/>
            <a:ext cx="5284075" cy="2779294"/>
          </a:xfrm>
        </p:spPr>
        <p:txBody>
          <a:bodyPr/>
          <a:lstStyle/>
          <a:p>
            <a:r>
              <a:rPr lang="en-GB" sz="6600" dirty="0"/>
              <a:t>Intro to HTML &amp; CSS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8A062-692B-3726-4110-460DF274832D}"/>
              </a:ext>
            </a:extLst>
          </p:cNvPr>
          <p:cNvSpPr txBox="1"/>
          <p:nvPr/>
        </p:nvSpPr>
        <p:spPr>
          <a:xfrm>
            <a:off x="3600450" y="-2857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F1634A-172B-068B-1A70-44EECD6DA64F}"/>
              </a:ext>
            </a:extLst>
          </p:cNvPr>
          <p:cNvSpPr txBox="1"/>
          <p:nvPr/>
        </p:nvSpPr>
        <p:spPr>
          <a:xfrm>
            <a:off x="914400" y="62536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B76B8-F02E-DDD5-8DC2-DBE6CCD6B4D3}"/>
              </a:ext>
            </a:extLst>
          </p:cNvPr>
          <p:cNvSpPr txBox="1"/>
          <p:nvPr/>
        </p:nvSpPr>
        <p:spPr>
          <a:xfrm>
            <a:off x="1177159" y="62536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6977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HTML </a:t>
            </a:r>
            <a:r>
              <a:rPr lang="en-GB" sz="3200" dirty="0"/>
              <a:t>– 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Hyper Text Markup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HTML is the </a:t>
            </a:r>
            <a:r>
              <a:rPr lang="en-GB" sz="2800" b="1" dirty="0"/>
              <a:t>language</a:t>
            </a:r>
            <a:r>
              <a:rPr lang="en-GB" sz="2800" dirty="0"/>
              <a:t> we use for creating </a:t>
            </a:r>
            <a:r>
              <a:rPr lang="en-GB" sz="2800" b="1" dirty="0"/>
              <a:t>web 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It’s broken down into </a:t>
            </a:r>
            <a:r>
              <a:rPr lang="en-GB" sz="2800" b="1" dirty="0"/>
              <a:t>elements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We can identify elements by </a:t>
            </a:r>
            <a:r>
              <a:rPr lang="en-GB" sz="2800" b="1" dirty="0"/>
              <a:t>&lt;&gt;</a:t>
            </a:r>
            <a:r>
              <a:rPr lang="en-GB" sz="2800" dirty="0"/>
              <a:t> e.g. &lt;body&gt;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HTML has </a:t>
            </a:r>
            <a:r>
              <a:rPr lang="en-GB" sz="2800" b="1" dirty="0"/>
              <a:t>syntax</a:t>
            </a:r>
            <a:r>
              <a:rPr lang="en-GB" sz="2800" dirty="0"/>
              <a:t> in the same way that English has </a:t>
            </a:r>
            <a:r>
              <a:rPr lang="en-GB" sz="2800" b="1" dirty="0"/>
              <a:t>grammar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The elements in HTML are like </a:t>
            </a:r>
            <a:r>
              <a:rPr lang="en-GB" sz="2800" b="1" dirty="0"/>
              <a:t>instructions</a:t>
            </a:r>
            <a:r>
              <a:rPr lang="en-GB" sz="2800" dirty="0"/>
              <a:t> – they tell the web browser how to display the content provide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HTML is </a:t>
            </a:r>
            <a:r>
              <a:rPr lang="en-GB" sz="2800" b="1" dirty="0"/>
              <a:t>not</a:t>
            </a:r>
            <a:r>
              <a:rPr lang="en-GB" sz="2800" dirty="0"/>
              <a:t> case-sensitive; however, it is best practice to stick to lowercase</a:t>
            </a:r>
          </a:p>
        </p:txBody>
      </p:sp>
    </p:spTree>
    <p:extLst>
      <p:ext uri="{BB962C8B-B14F-4D97-AF65-F5344CB8AC3E}">
        <p14:creationId xmlns:p14="http://schemas.microsoft.com/office/powerpoint/2010/main" val="270294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HTML </a:t>
            </a:r>
            <a:r>
              <a:rPr lang="en-GB" sz="3200" dirty="0"/>
              <a:t>– 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GB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r>
              <a:rPr lang="en-GB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GB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lang</a:t>
            </a:r>
            <a:r>
              <a:rPr lang="en-GB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2400" b="0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en</a:t>
            </a:r>
            <a:r>
              <a:rPr lang="en-GB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br>
              <a:rPr lang="en-GB" sz="2400" dirty="0"/>
            </a:br>
            <a:r>
              <a:rPr lang="en-GB" sz="2400" dirty="0"/>
              <a:t>			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r>
              <a:rPr lang="en-GB" sz="2400" dirty="0"/>
              <a:t>						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Page Title – what you see in the tab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/title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r>
              <a:rPr lang="en-GB" sz="2400" dirty="0"/>
              <a:t>			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/head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endParaRPr lang="en-GB" sz="2400" dirty="0"/>
          </a:p>
          <a:p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			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/>
              <a:t>						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Heading 1 – the biggest, boldest heading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r>
              <a:rPr lang="en-GB" sz="2400" dirty="0"/>
              <a:t>						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 first paragraph. – normal text content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/>
              <a:t>			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/html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97256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HTML </a:t>
            </a:r>
            <a:r>
              <a:rPr lang="en-GB" sz="3200" dirty="0"/>
              <a:t>– 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GB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r>
              <a:rPr lang="en-GB" sz="2400" dirty="0"/>
              <a:t>			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r>
              <a:rPr lang="en-GB" sz="2400" dirty="0"/>
              <a:t>						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Page Title – what you see in the tab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/title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r>
              <a:rPr lang="en-GB" sz="2400" dirty="0"/>
              <a:t>			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/head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endParaRPr lang="en-GB" sz="2400" dirty="0"/>
          </a:p>
          <a:p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			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/>
              <a:t>						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Heading 1 – the biggest, boldest heading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r>
              <a:rPr lang="en-GB" sz="2400" dirty="0"/>
              <a:t>						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 first paragraph. – normal text content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/>
              <a:t>			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400" dirty="0"/>
            </a:b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/html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804434-1A4D-79F5-06A4-6492729E5AD8}"/>
              </a:ext>
            </a:extLst>
          </p:cNvPr>
          <p:cNvCxnSpPr>
            <a:cxnSpLocks/>
          </p:cNvCxnSpPr>
          <p:nvPr/>
        </p:nvCxnSpPr>
        <p:spPr>
          <a:xfrm>
            <a:off x="987972" y="2175641"/>
            <a:ext cx="0" cy="77776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BCF7FE-C7B3-CC69-3418-0622F31BA0DC}"/>
              </a:ext>
            </a:extLst>
          </p:cNvPr>
          <p:cNvCxnSpPr>
            <a:cxnSpLocks/>
          </p:cNvCxnSpPr>
          <p:nvPr/>
        </p:nvCxnSpPr>
        <p:spPr>
          <a:xfrm>
            <a:off x="987972" y="3773214"/>
            <a:ext cx="0" cy="187084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785B0C-4D26-5141-5319-1B9C93897B62}"/>
              </a:ext>
            </a:extLst>
          </p:cNvPr>
          <p:cNvCxnSpPr>
            <a:cxnSpLocks/>
          </p:cNvCxnSpPr>
          <p:nvPr/>
        </p:nvCxnSpPr>
        <p:spPr>
          <a:xfrm>
            <a:off x="289035" y="1786759"/>
            <a:ext cx="0" cy="425668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627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HTML </a:t>
            </a:r>
            <a:r>
              <a:rPr lang="en-GB" sz="3200" dirty="0"/>
              <a:t>– Some Key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sz="1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18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example</a:t>
            </a:r>
            <a:r>
              <a:rPr lang="en-GB" sz="1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GB" sz="1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 Content goes here... </a:t>
            </a:r>
            <a:r>
              <a:rPr lang="en-GB" sz="1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18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/example</a:t>
            </a:r>
            <a:r>
              <a:rPr lang="en-GB" sz="1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GB" sz="1800" dirty="0">
              <a:solidFill>
                <a:srgbClr val="0000CD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buFontTx/>
              <a:buChar char="-"/>
            </a:pPr>
            <a:r>
              <a:rPr lang="en-GB" sz="1800" dirty="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title (this is what you see in the tab)</a:t>
            </a:r>
          </a:p>
          <a:p>
            <a:pPr marL="342900" indent="-342900">
              <a:buFontTx/>
              <a:buChar char="-"/>
            </a:pPr>
            <a:r>
              <a:rPr lang="en-GB" sz="1800" dirty="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h1, h2, h3, h4, h5, h6 </a:t>
            </a:r>
            <a:r>
              <a:rPr lang="en-GB" sz="1800" dirty="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(these get progressively smaller)</a:t>
            </a:r>
          </a:p>
          <a:p>
            <a:pPr marL="342900" indent="-342900">
              <a:buFontTx/>
              <a:buChar char="-"/>
            </a:pPr>
            <a:r>
              <a:rPr lang="en-GB" sz="1800" dirty="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p (these are paragraph tags, for normal written content)</a:t>
            </a:r>
          </a:p>
          <a:p>
            <a:pPr marL="342900" indent="-342900">
              <a:buFontTx/>
              <a:buChar char="-"/>
            </a:pPr>
            <a:r>
              <a:rPr lang="en-GB" sz="1800" dirty="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a (this is usually what you see followed by </a:t>
            </a:r>
            <a:r>
              <a:rPr lang="en-GB" sz="1800" b="1" dirty="0" err="1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href</a:t>
            </a:r>
            <a:r>
              <a:rPr lang="en-GB" sz="1800" dirty="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for hyperlinks)</a:t>
            </a:r>
          </a:p>
          <a:p>
            <a:pPr marL="342900" indent="-342900">
              <a:buFontTx/>
              <a:buChar char="-"/>
            </a:pPr>
            <a:r>
              <a:rPr lang="en-GB" sz="1800" dirty="0" err="1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img</a:t>
            </a:r>
            <a:r>
              <a:rPr lang="en-GB" sz="1800" dirty="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(this is an image, usually followed by </a:t>
            </a:r>
            <a:r>
              <a:rPr lang="en-GB" sz="1800" b="1" dirty="0" err="1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src</a:t>
            </a:r>
            <a:r>
              <a:rPr lang="en-GB" sz="1800" dirty="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for source)</a:t>
            </a:r>
            <a:endParaRPr lang="en-GB" sz="1800" dirty="0">
              <a:solidFill>
                <a:srgbClr val="0000CD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  <a:sym typeface="Wingdings" pitchFamily="2" charset="2"/>
            </a:endParaRPr>
          </a:p>
          <a:p>
            <a:pPr marL="342900" indent="-342900">
              <a:buFontTx/>
              <a:buChar char="-"/>
            </a:pPr>
            <a:r>
              <a:rPr lang="en-GB" sz="1800" dirty="0" err="1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br</a:t>
            </a:r>
            <a:r>
              <a:rPr lang="en-GB" sz="1800" dirty="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(this is for line break, and it creates a new line in content)</a:t>
            </a:r>
          </a:p>
          <a:p>
            <a:pPr marL="342900" indent="-342900">
              <a:buFontTx/>
              <a:buChar char="-"/>
            </a:pPr>
            <a:r>
              <a:rPr lang="en-GB" sz="1800" dirty="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div (this is to help divide content into blocks)</a:t>
            </a:r>
          </a:p>
          <a:p>
            <a:pPr marL="342900" indent="-342900">
              <a:buFontTx/>
              <a:buChar char="-"/>
            </a:pPr>
            <a:r>
              <a:rPr lang="en-GB" sz="1800" dirty="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button (this is for clickable buttons)</a:t>
            </a:r>
          </a:p>
          <a:p>
            <a:pPr marL="342900" indent="-342900">
              <a:buFontTx/>
              <a:buChar char="-"/>
            </a:pPr>
            <a:r>
              <a:rPr lang="en-GB" sz="1800" dirty="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form (this is for forms for users to submit input)</a:t>
            </a:r>
          </a:p>
          <a:p>
            <a:pPr marL="342900" indent="-342900">
              <a:buFontTx/>
              <a:buChar char="-"/>
            </a:pPr>
            <a:r>
              <a:rPr lang="en-GB" sz="1800" dirty="0" err="1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ul</a:t>
            </a:r>
            <a:r>
              <a:rPr lang="en-GB" sz="1800" dirty="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/ </a:t>
            </a:r>
            <a:r>
              <a:rPr lang="en-GB" sz="1800" dirty="0" err="1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ol</a:t>
            </a:r>
            <a:r>
              <a:rPr lang="en-GB" sz="1800" dirty="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(followed by li – this is for unordered (bullet) and ordered (numbered) lists)</a:t>
            </a:r>
          </a:p>
        </p:txBody>
      </p:sp>
    </p:spTree>
    <p:extLst>
      <p:ext uri="{BB962C8B-B14F-4D97-AF65-F5344CB8AC3E}">
        <p14:creationId xmlns:p14="http://schemas.microsoft.com/office/powerpoint/2010/main" val="408301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HTML </a:t>
            </a:r>
            <a:r>
              <a:rPr lang="en-GB" sz="3200" dirty="0"/>
              <a:t>– Intro to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sz="2400" b="0" i="0" dirty="0">
                <a:effectLst/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</a:rPr>
              <a:t>There are a lot of other elements that we can use, but these were the most common and useful.</a:t>
            </a:r>
          </a:p>
          <a:p>
            <a:r>
              <a:rPr lang="en-GB" sz="24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More tags can be found at:</a:t>
            </a:r>
          </a:p>
          <a:p>
            <a:r>
              <a:rPr lang="en-GB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		&lt;a </a:t>
            </a:r>
            <a:r>
              <a:rPr lang="en-GB" dirty="0" err="1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href</a:t>
            </a:r>
            <a:r>
              <a:rPr lang="en-GB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=</a:t>
            </a:r>
            <a:r>
              <a:rPr lang="en-GB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  <a:hlinkClick r:id="rId3"/>
              </a:rPr>
              <a:t>“https://www.w3schools.com/tags/default.asp</a:t>
            </a:r>
            <a:r>
              <a:rPr lang="en-GB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”&gt; this link &lt;/a&gt;</a:t>
            </a:r>
          </a:p>
          <a:p>
            <a:r>
              <a:rPr lang="en-GB" sz="24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HTML &lt;elements&gt; can have attributes – these help to describe the element in more detail or provide context for the web browser to understand</a:t>
            </a:r>
          </a:p>
          <a:p>
            <a:r>
              <a:rPr lang="en-GB" sz="24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For an image, these attributes might include:</a:t>
            </a:r>
          </a:p>
          <a:p>
            <a:pPr marL="800100" lvl="2" indent="-342900">
              <a:buFontTx/>
              <a:buChar char="-"/>
            </a:pPr>
            <a:r>
              <a:rPr lang="en-GB" sz="24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Source</a:t>
            </a:r>
          </a:p>
          <a:p>
            <a:pPr marL="800100" lvl="2" indent="-342900">
              <a:buFontTx/>
              <a:buChar char="-"/>
            </a:pPr>
            <a:r>
              <a:rPr lang="en-GB" sz="24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Height</a:t>
            </a:r>
          </a:p>
          <a:p>
            <a:pPr marL="800100" lvl="2" indent="-342900">
              <a:buFontTx/>
              <a:buChar char="-"/>
            </a:pPr>
            <a:r>
              <a:rPr lang="en-GB" sz="24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Width</a:t>
            </a:r>
          </a:p>
          <a:p>
            <a:pPr marL="800100" lvl="2" indent="-342900">
              <a:buFontTx/>
              <a:buChar char="-"/>
            </a:pPr>
            <a:r>
              <a:rPr lang="en-GB" sz="24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Alt text</a:t>
            </a:r>
          </a:p>
        </p:txBody>
      </p:sp>
    </p:spTree>
    <p:extLst>
      <p:ext uri="{BB962C8B-B14F-4D97-AF65-F5344CB8AC3E}">
        <p14:creationId xmlns:p14="http://schemas.microsoft.com/office/powerpoint/2010/main" val="104455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CSS </a:t>
            </a:r>
            <a:r>
              <a:rPr lang="en-GB" sz="3200" dirty="0"/>
              <a:t>– Intro to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So far, we can build an entire website with everything we know about HTML, but it would look really boring.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By default, the background is #FFFFFF and text is #000000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Everything is left aligned and the default font is Times New Roman, and 16pt for paragraph text.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highlight>
                <a:srgbClr val="FFFFFF"/>
              </a:highlight>
              <a:latin typeface="Graphik" panose="020B0503030202060203" pitchFamily="34" charset="77"/>
              <a:cs typeface="Consolas" panose="020B0609020204030204" pitchFamily="49" charset="0"/>
              <a:sym typeface="Wingdings" pitchFamily="2" charset="2"/>
            </a:endParaRPr>
          </a:p>
          <a:p>
            <a:pPr algn="ctr"/>
            <a:r>
              <a:rPr lang="en-GB" sz="3600" spc="3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When we want </a:t>
            </a:r>
            <a:r>
              <a:rPr lang="en-GB" sz="3600" spc="300" dirty="0">
                <a:solidFill>
                  <a:srgbClr val="FF0000"/>
                </a:solidFill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c</a:t>
            </a:r>
            <a:r>
              <a:rPr lang="en-GB" sz="3600" spc="300" dirty="0">
                <a:solidFill>
                  <a:srgbClr val="FFC000"/>
                </a:solidFill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o</a:t>
            </a:r>
            <a:r>
              <a:rPr lang="en-GB" sz="3600" spc="300" dirty="0">
                <a:solidFill>
                  <a:srgbClr val="E1E218"/>
                </a:solidFill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l</a:t>
            </a:r>
            <a:r>
              <a:rPr lang="en-GB" sz="3600" spc="300" dirty="0">
                <a:solidFill>
                  <a:srgbClr val="00B050"/>
                </a:solidFill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o</a:t>
            </a:r>
            <a:r>
              <a:rPr lang="en-GB" sz="3600" spc="300" dirty="0">
                <a:solidFill>
                  <a:srgbClr val="00B0F0"/>
                </a:solidFill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u</a:t>
            </a:r>
            <a:r>
              <a:rPr lang="en-GB" sz="3600" spc="300" dirty="0">
                <a:solidFill>
                  <a:srgbClr val="002060"/>
                </a:solidFill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r</a:t>
            </a:r>
            <a:r>
              <a:rPr lang="en-GB" sz="3600" spc="300" dirty="0">
                <a:solidFill>
                  <a:srgbClr val="7030A0"/>
                </a:solidFill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s</a:t>
            </a:r>
            <a:r>
              <a:rPr lang="en-GB" sz="3600" spc="3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,</a:t>
            </a:r>
            <a:r>
              <a:rPr lang="en-GB" sz="3600" spc="300" dirty="0">
                <a:solidFill>
                  <a:srgbClr val="7030A0"/>
                </a:solidFill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GB" sz="3600" spc="300" dirty="0">
                <a:highlight>
                  <a:srgbClr val="FFFFFF"/>
                </a:highlight>
                <a:latin typeface="Cooper Black" panose="0208090404030B020404" pitchFamily="18" charset="77"/>
                <a:ea typeface="Brush Script MT" panose="03060802040406070304" pitchFamily="66" charset="-122"/>
                <a:cs typeface="Brush Script MT" panose="03060802040406070304" pitchFamily="66" charset="-122"/>
                <a:sym typeface="Wingdings" pitchFamily="2" charset="2"/>
              </a:rPr>
              <a:t>fonts</a:t>
            </a:r>
            <a:r>
              <a:rPr lang="en-GB" sz="3600" spc="3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 and </a:t>
            </a:r>
            <a:r>
              <a:rPr lang="en-GB" sz="3600" b="1" i="1" u="sng" spc="3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emphasis</a:t>
            </a:r>
            <a:r>
              <a:rPr lang="en-GB" sz="3600" spc="3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, we need to implement styling, which is where </a:t>
            </a:r>
            <a:r>
              <a:rPr lang="en-GB" sz="3600" b="1" spc="3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CSS</a:t>
            </a:r>
            <a:r>
              <a:rPr lang="en-GB" sz="3600" spc="3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 comes in.</a:t>
            </a:r>
            <a:endParaRPr lang="en-GB" sz="3600" b="1" i="1" u="sng" spc="300" dirty="0">
              <a:highlight>
                <a:srgbClr val="FFFFFF"/>
              </a:highlight>
              <a:latin typeface="Graphik" panose="020B0503030202060203" pitchFamily="34" charset="77"/>
              <a:cs typeface="Consolas" panose="020B0609020204030204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4022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CSS </a:t>
            </a:r>
            <a:r>
              <a:rPr lang="en-GB" sz="3200" dirty="0"/>
              <a:t>– Intro to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Cascading Style Sheets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Cascading refers to how styles applied to parent elements automatically cascade and apply to child elements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There are 3 key parts to CSS – elements, classes and id’s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There is a hierarchy of the order in which instructions must be followed, rules for what style overwrites the other if both are relevant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We can use 3 types of styling: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Inline, internal and </a:t>
            </a:r>
            <a:r>
              <a:rPr lang="en-GB" sz="2800" b="1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external </a:t>
            </a:r>
            <a:r>
              <a:rPr lang="en-GB" sz="2800" dirty="0">
                <a:highlight>
                  <a:srgbClr val="FFFFFF"/>
                </a:highlight>
                <a:latin typeface="Graphik" panose="020B0503030202060203" pitchFamily="34" charset="77"/>
                <a:cs typeface="Consolas" panose="020B0609020204030204" pitchFamily="49" charset="0"/>
                <a:sym typeface="Wingdings" pitchFamily="2" charset="2"/>
              </a:rPr>
              <a:t>– we will mostly be using external</a:t>
            </a:r>
          </a:p>
        </p:txBody>
      </p:sp>
    </p:spTree>
    <p:extLst>
      <p:ext uri="{BB962C8B-B14F-4D97-AF65-F5344CB8AC3E}">
        <p14:creationId xmlns:p14="http://schemas.microsoft.com/office/powerpoint/2010/main" val="921095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CSS </a:t>
            </a:r>
            <a:r>
              <a:rPr lang="en-GB" sz="3200" dirty="0"/>
              <a:t>– Intro to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Inline - by using the style </a:t>
            </a:r>
            <a:r>
              <a:rPr lang="en-GB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attribute</a:t>
            </a:r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 inside HTML elements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Internal - by using a </a:t>
            </a:r>
            <a:r>
              <a:rPr lang="en-GB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style</a:t>
            </a:r>
            <a:r>
              <a:rPr lang="en-GB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element in the </a:t>
            </a:r>
            <a:r>
              <a:rPr lang="en-GB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head</a:t>
            </a:r>
            <a:r>
              <a:rPr lang="en-GB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section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External</a:t>
            </a:r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 - by using a</a:t>
            </a:r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en-GB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lang="en-GB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&gt; </a:t>
            </a:r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element to link to an external CSS file</a:t>
            </a:r>
            <a:endParaRPr lang="en-GB" dirty="0">
              <a:solidFill>
                <a:srgbClr val="000000"/>
              </a:solidFill>
              <a:highlight>
                <a:srgbClr val="FFFFFF"/>
              </a:highlight>
              <a:latin typeface="Graphik" panose="020B0503030202060203" pitchFamily="34" charset="77"/>
            </a:endParaRPr>
          </a:p>
          <a:p>
            <a:pPr algn="l"/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This is how we link a CSS stylesheet to our webpage:</a:t>
            </a:r>
          </a:p>
          <a:p>
            <a:pPr algn="l"/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GB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000" dirty="0"/>
            </a:b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000" dirty="0"/>
            </a:br>
            <a:r>
              <a:rPr lang="en-GB" sz="2000" dirty="0"/>
              <a:t>			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000" dirty="0"/>
            </a:b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					</a:t>
            </a:r>
            <a:r>
              <a:rPr lang="en-GB" sz="20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GB" sz="20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000" b="1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GB" sz="20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="stylesheet"</a:t>
            </a:r>
            <a:r>
              <a:rPr lang="en-GB" sz="20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000" b="1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GB" sz="20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GB" sz="2000" b="1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styles.css</a:t>
            </a:r>
            <a:r>
              <a:rPr lang="en-GB" sz="20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  <a:br>
              <a:rPr lang="en-GB" sz="2000" dirty="0"/>
            </a:br>
            <a:r>
              <a:rPr lang="en-GB" sz="2000" dirty="0"/>
              <a:t>			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/head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br>
              <a:rPr lang="en-GB" sz="2000" dirty="0"/>
            </a:br>
            <a:r>
              <a:rPr lang="en-GB" sz="2000" dirty="0"/>
              <a:t>			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000" dirty="0"/>
            </a:br>
            <a:r>
              <a:rPr lang="en-GB" sz="2000" dirty="0"/>
              <a:t>						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&lt;&gt;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br>
              <a:rPr lang="en-GB" sz="2000" dirty="0"/>
            </a:br>
            <a:r>
              <a:rPr lang="en-GB" sz="2000" dirty="0"/>
              <a:t>			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000" dirty="0"/>
            </a:b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/html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240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6371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CSS </a:t>
            </a:r>
            <a:r>
              <a:rPr lang="en-GB" sz="3200" dirty="0"/>
              <a:t>– Intro to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We use external styling so that we can change how lots of things look quickly and easily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Style sheets provide a space for instructions on how each element should appear </a:t>
            </a:r>
            <a:endParaRPr lang="en-GB" i="0" dirty="0">
              <a:solidFill>
                <a:srgbClr val="000000"/>
              </a:solidFill>
              <a:effectLst/>
              <a:highlight>
                <a:srgbClr val="FFFFFF"/>
              </a:highlight>
              <a:latin typeface="Graphik" panose="020B0503030202060203" pitchFamily="34" charset="77"/>
            </a:endParaRPr>
          </a:p>
          <a:p>
            <a:pPr algn="l"/>
            <a:endParaRPr lang="en-GB" sz="2400" dirty="0">
              <a:solidFill>
                <a:srgbClr val="000000"/>
              </a:solidFill>
              <a:highlight>
                <a:srgbClr val="FFFFFF"/>
              </a:highlight>
              <a:latin typeface="Graphik" panose="020B0503030202060203" pitchFamily="34" charset="77"/>
            </a:endParaRPr>
          </a:p>
          <a:p>
            <a:pPr algn="l"/>
            <a:r>
              <a:rPr lang="en-GB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body 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background-</a:t>
            </a:r>
            <a:r>
              <a:rPr lang="en-GB" sz="2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GB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green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algn="l"/>
            <a:br>
              <a:rPr lang="en-GB" sz="2000" dirty="0"/>
            </a:br>
            <a:r>
              <a:rPr lang="en-GB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h1 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GB" sz="2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GB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blue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algn="l"/>
            <a:br>
              <a:rPr lang="en-GB" sz="2000" dirty="0"/>
            </a:br>
            <a:r>
              <a:rPr lang="en-GB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 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GB" sz="2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GB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red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GB" sz="240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5390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CSS </a:t>
            </a:r>
            <a:r>
              <a:rPr lang="en-GB" sz="3200" dirty="0"/>
              <a:t>– Intro to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049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We can apply lots of different styles to one single element</a:t>
            </a:r>
            <a:endParaRPr lang="en-GB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algn="l"/>
            <a:br>
              <a:rPr lang="en-GB" sz="2400" dirty="0"/>
            </a:br>
            <a:r>
              <a:rPr lang="en-GB" sz="24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 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GB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		</a:t>
            </a:r>
            <a:r>
              <a:rPr lang="en-GB" sz="24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GB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red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GB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font-family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Arial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GB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font-size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GB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GB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2px solid pink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GB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GB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30px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GB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		margin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GB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50px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GB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algn="l"/>
            <a:endParaRPr lang="en-GB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pic>
        <p:nvPicPr>
          <p:cNvPr id="5" name="Picture 4" descr="A diagram of a rectangular structure&#10;&#10;Description automatically generated">
            <a:extLst>
              <a:ext uri="{FF2B5EF4-FFF2-40B4-BE49-F238E27FC236}">
                <a16:creationId xmlns:a16="http://schemas.microsoft.com/office/drawing/2014/main" id="{726D8D01-F3A2-5EFD-EFDE-81BFC601D6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75" t="9602" r="7415" b="11375"/>
          <a:stretch/>
        </p:blipFill>
        <p:spPr>
          <a:xfrm>
            <a:off x="5892800" y="2316226"/>
            <a:ext cx="47625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45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CSS </a:t>
            </a:r>
            <a:r>
              <a:rPr lang="en-GB" sz="3200" dirty="0"/>
              <a:t>– Intro to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049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We can also split elements up for styling by using the </a:t>
            </a:r>
            <a:r>
              <a:rPr lang="en-GB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 attribute</a:t>
            </a:r>
          </a:p>
          <a:p>
            <a:pPr algn="l"/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 </a:t>
            </a:r>
            <a:r>
              <a:rPr lang="en-GB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GB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=“important”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 first paragraph. – important text content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 </a:t>
            </a:r>
            <a:r>
              <a:rPr lang="en-GB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GB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=“normal”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 first paragraph. – normal text content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en-GB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 algn="l"/>
            <a:r>
              <a:rPr lang="en-GB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.important 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		</a:t>
            </a:r>
            <a:r>
              <a:rPr lang="en-GB" sz="2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GB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red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font-size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GB" sz="2000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algn="l"/>
            <a:endParaRPr lang="en-GB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algn="l"/>
            <a:r>
              <a:rPr lang="en-GB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.normal 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		</a:t>
            </a:r>
            <a:r>
              <a:rPr lang="en-GB" sz="2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GB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black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font-size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GB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16</a:t>
            </a:r>
            <a:r>
              <a:rPr lang="en-GB" sz="2000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px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algn="l"/>
            <a:endParaRPr lang="en-GB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sz="2000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endParaRPr lang="en-GB" dirty="0">
              <a:solidFill>
                <a:srgbClr val="0000CD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i="0" dirty="0">
              <a:solidFill>
                <a:srgbClr val="000000"/>
              </a:solidFill>
              <a:effectLst/>
              <a:highlight>
                <a:srgbClr val="FFFFFF"/>
              </a:highlight>
              <a:latin typeface="Graphik" panose="020B0503030202060203" pitchFamily="34" charset="77"/>
            </a:endParaRPr>
          </a:p>
          <a:p>
            <a:pPr algn="l"/>
            <a:endParaRPr lang="en-GB" i="0" dirty="0">
              <a:solidFill>
                <a:srgbClr val="000000"/>
              </a:solidFill>
              <a:effectLst/>
              <a:highlight>
                <a:srgbClr val="FFFFFF"/>
              </a:highlight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7177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CSS </a:t>
            </a:r>
            <a:r>
              <a:rPr lang="en-GB" sz="3200" dirty="0"/>
              <a:t>– Intro to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049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We can also split elements up for styling by using the </a:t>
            </a:r>
            <a:r>
              <a:rPr lang="en-GB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 attribute</a:t>
            </a:r>
          </a:p>
          <a:p>
            <a:pPr algn="l"/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 </a:t>
            </a:r>
            <a:r>
              <a:rPr lang="en-GB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=“important”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 first paragraph. – important text content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 </a:t>
            </a:r>
            <a:r>
              <a:rPr lang="en-GB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=“normal”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 first paragraph. – normal text content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GB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en-GB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 algn="l"/>
            <a:r>
              <a:rPr lang="en-GB" dirty="0">
                <a:solidFill>
                  <a:srgbClr val="A52A2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GB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important 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		</a:t>
            </a:r>
            <a:r>
              <a:rPr lang="en-GB" sz="2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GB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red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font-size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GB" sz="2000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algn="l"/>
            <a:endParaRPr lang="en-GB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algn="l"/>
            <a:r>
              <a:rPr lang="en-GB" dirty="0">
                <a:solidFill>
                  <a:srgbClr val="A52A2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GB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normal 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		</a:t>
            </a:r>
            <a:r>
              <a:rPr lang="en-GB" sz="2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GB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black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font-size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GB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16</a:t>
            </a:r>
            <a:r>
              <a:rPr lang="en-GB" sz="2000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px</a:t>
            </a: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GB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algn="l"/>
            <a:endParaRPr lang="en-GB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sz="2000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endParaRPr lang="en-GB" dirty="0">
              <a:solidFill>
                <a:srgbClr val="0000CD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i="0" dirty="0">
              <a:solidFill>
                <a:srgbClr val="000000"/>
              </a:solidFill>
              <a:effectLst/>
              <a:highlight>
                <a:srgbClr val="FFFFFF"/>
              </a:highlight>
              <a:latin typeface="Graphik" panose="020B0503030202060203" pitchFamily="34" charset="77"/>
            </a:endParaRPr>
          </a:p>
          <a:p>
            <a:pPr algn="l"/>
            <a:endParaRPr lang="en-GB" i="0" dirty="0">
              <a:solidFill>
                <a:srgbClr val="000000"/>
              </a:solidFill>
              <a:effectLst/>
              <a:highlight>
                <a:srgbClr val="FFFFFF"/>
              </a:highlight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9716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HTML &amp; CSS </a:t>
            </a:r>
            <a:r>
              <a:rPr lang="en-GB" sz="3200" dirty="0"/>
              <a:t>–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049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Images are an important part of a website – how can we add them properly?</a:t>
            </a:r>
            <a:endParaRPr lang="en-GB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Graphik" panose="020B0503030202060203" pitchFamily="34" charset="77"/>
            </a:endParaRPr>
          </a:p>
          <a:p>
            <a:pPr algn="l"/>
            <a:r>
              <a:rPr lang="en-GB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2400" b="0" i="0" dirty="0" err="1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img</a:t>
            </a:r>
            <a:r>
              <a:rPr lang="en-GB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GB" sz="24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src</a:t>
            </a:r>
            <a:r>
              <a:rPr lang="en-GB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=“</a:t>
            </a:r>
            <a:r>
              <a:rPr lang="en-GB" sz="2400" b="0" i="1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url</a:t>
            </a:r>
            <a:r>
              <a:rPr lang="en-GB" sz="2400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”</a:t>
            </a:r>
            <a:r>
              <a:rPr lang="en-GB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alt</a:t>
            </a:r>
            <a:r>
              <a:rPr lang="en-GB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=“</a:t>
            </a:r>
            <a:r>
              <a:rPr lang="en-GB" sz="2400" b="0" i="1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alternatetext</a:t>
            </a:r>
            <a:r>
              <a:rPr lang="en-GB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”&gt;</a:t>
            </a:r>
          </a:p>
          <a:p>
            <a:pPr algn="l"/>
            <a:endParaRPr lang="en-GB" sz="2400" dirty="0">
              <a:solidFill>
                <a:srgbClr val="0000CD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The </a:t>
            </a:r>
            <a:r>
              <a:rPr lang="en-GB" sz="24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src</a:t>
            </a: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 attribute describes to the web page where to get that photo from, it needs to be saved in a location that can be accessed by the web page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One idea is to have a folder, usually one level up from the web pages, in your file structure, that contains all the photos you need, and then you reference them relative to your webpage</a:t>
            </a:r>
            <a:endParaRPr lang="en-GB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Graphik" panose="020B0503030202060203" pitchFamily="34" charset="77"/>
            </a:endParaRPr>
          </a:p>
          <a:p>
            <a:r>
              <a:rPr lang="en-GB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2400" b="0" i="0" dirty="0" err="1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img</a:t>
            </a:r>
            <a:r>
              <a:rPr lang="en-GB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GB" sz="24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src</a:t>
            </a:r>
            <a:r>
              <a:rPr lang="en-GB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=“</a:t>
            </a:r>
            <a:r>
              <a:rPr lang="en-GB" sz="2400" i="1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./photos/picture1.jpg</a:t>
            </a:r>
            <a:r>
              <a:rPr lang="en-GB" sz="2400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”</a:t>
            </a:r>
            <a:r>
              <a:rPr lang="en-GB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alt</a:t>
            </a:r>
            <a:r>
              <a:rPr lang="en-GB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=“important text that describes the photo</a:t>
            </a:r>
            <a:r>
              <a:rPr lang="en-GB" sz="2400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”</a:t>
            </a:r>
            <a:r>
              <a:rPr lang="en-GB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22984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HTML &amp; CSS </a:t>
            </a:r>
            <a:r>
              <a:rPr lang="en-GB" sz="3200" dirty="0"/>
              <a:t>–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049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If you want to move between pages, you can use the &lt;a&gt; element to point one thing to another</a:t>
            </a:r>
            <a:endParaRPr lang="en-GB" sz="2400" b="0" i="0" dirty="0">
              <a:solidFill>
                <a:srgbClr val="0000CD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algn="l"/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GB" sz="2400" b="0" i="1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lang="en-GB" sz="24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link text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algn="l"/>
            <a:endParaRPr lang="en-GB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raphik" panose="020B0503030202060203" pitchFamily="34" charset="77"/>
              </a:rPr>
              <a:t>This can be done relatively, so you can point one piece of text from one page to another</a:t>
            </a:r>
          </a:p>
          <a:p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=“/about-</a:t>
            </a:r>
            <a:r>
              <a:rPr lang="en-GB" sz="24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us.html</a:t>
            </a:r>
            <a:r>
              <a:rPr lang="en-GB" sz="2400" dirty="0">
                <a:solidFill>
                  <a:srgbClr val="0000CD"/>
                </a:solidFill>
                <a:latin typeface="Consolas" panose="020B0609020204030204" pitchFamily="49" charset="0"/>
              </a:rPr>
              <a:t>”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4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About Us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en-GB" sz="2400" dirty="0">
              <a:solidFill>
                <a:srgbClr val="0000CD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highlight>
                  <a:srgbClr val="FFFFFF"/>
                </a:highlight>
                <a:latin typeface="Graphik" panose="020B0503030202060203" pitchFamily="34" charset="77"/>
              </a:rPr>
              <a:t>Or it can be done absolutely, which points to another website entirely</a:t>
            </a:r>
          </a:p>
          <a:p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="https://</a:t>
            </a:r>
            <a:r>
              <a:rPr lang="en-GB" sz="24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www.google.com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/"&gt;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Search something on Google!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GB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29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HTML &amp; CSS </a:t>
            </a:r>
            <a:r>
              <a:rPr lang="en-GB" sz="3200" dirty="0"/>
              <a:t>–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049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An important skill to learn as a technical person is </a:t>
            </a:r>
            <a:r>
              <a:rPr lang="en-GB" sz="2400" b="1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how to search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It sounds simple, but being able to know what and how to search specific things helps you figure out how to fix a problem – </a:t>
            </a:r>
            <a:r>
              <a:rPr lang="en-GB" sz="2400" b="1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most issues have already been encountered by someone else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Styling </a:t>
            </a: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divs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 is something you can do to make the page look more professional – but how can we do this if we don’t know the CSS by heart?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We can </a:t>
            </a:r>
            <a:r>
              <a:rPr lang="en-GB" sz="2400" b="1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Google it!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Some good websites to use for HTML are:</a:t>
            </a:r>
          </a:p>
          <a:p>
            <a:pPr marL="800100" lvl="2" indent="-342900"/>
            <a:r>
              <a:rPr lang="en-GB" sz="2400" b="1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W3Schools</a:t>
            </a:r>
          </a:p>
          <a:p>
            <a:pPr marL="800100" lvl="2" indent="-342900"/>
            <a:r>
              <a:rPr lang="en-GB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mdn</a:t>
            </a:r>
            <a:r>
              <a:rPr lang="en-GB" sz="2400" b="1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 Web Docs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Graphik" panose="020B0503030202060203" pitchFamily="34" charset="77"/>
              </a:rPr>
              <a:t> (HTML, CSS)</a:t>
            </a:r>
            <a:endParaRPr lang="en-GB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31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C9125F-A107-DDA9-93A7-4B6FD93EA8D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9</a:t>
            </a:r>
            <a:r>
              <a:rPr kumimoji="0" lang="en-US" sz="1400" b="1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th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April 2024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46A17-0A22-AFDC-A143-E3CD51A349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>
                <a:latin typeface="+mj-lt"/>
              </a:rPr>
              <a:t>Accenture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0C3520-E8FA-8FE3-C0E4-39F2C68C4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1" y="1456376"/>
            <a:ext cx="5284075" cy="2779294"/>
          </a:xfrm>
        </p:spPr>
        <p:txBody>
          <a:bodyPr/>
          <a:lstStyle/>
          <a:p>
            <a:r>
              <a:rPr lang="en-GB" sz="6600" dirty="0"/>
              <a:t>Intro to JavaScript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8A062-692B-3726-4110-460DF274832D}"/>
              </a:ext>
            </a:extLst>
          </p:cNvPr>
          <p:cNvSpPr txBox="1"/>
          <p:nvPr/>
        </p:nvSpPr>
        <p:spPr>
          <a:xfrm>
            <a:off x="3600450" y="-2857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F1634A-172B-068B-1A70-44EECD6DA64F}"/>
              </a:ext>
            </a:extLst>
          </p:cNvPr>
          <p:cNvSpPr txBox="1"/>
          <p:nvPr/>
        </p:nvSpPr>
        <p:spPr>
          <a:xfrm>
            <a:off x="914400" y="62536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B76B8-F02E-DDD5-8DC2-DBE6CCD6B4D3}"/>
              </a:ext>
            </a:extLst>
          </p:cNvPr>
          <p:cNvSpPr txBox="1"/>
          <p:nvPr/>
        </p:nvSpPr>
        <p:spPr>
          <a:xfrm>
            <a:off x="1177159" y="62536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84648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JavaScript </a:t>
            </a:r>
            <a:r>
              <a:rPr lang="en-GB" sz="3200" dirty="0"/>
              <a:t>– 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JavaScript helps to make our HTML pages interactive – we want something to happen when we click or hover or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So far, we can only create static websites, this means that the information on the website stays exactly as it is all the time – it’s the same for everyone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When we introduce JavaScript, we can start thinking about customising the experience for the user and creating something new - like outcomes from doing something like clicking a button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JavaScript is a programming language that we can put into our HTML that executes like a set of instructions</a:t>
            </a:r>
          </a:p>
        </p:txBody>
      </p:sp>
    </p:spTree>
    <p:extLst>
      <p:ext uri="{BB962C8B-B14F-4D97-AF65-F5344CB8AC3E}">
        <p14:creationId xmlns:p14="http://schemas.microsoft.com/office/powerpoint/2010/main" val="182583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JavaScript </a:t>
            </a:r>
            <a:r>
              <a:rPr lang="en-GB" sz="3200" dirty="0"/>
              <a:t>– 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We use the </a:t>
            </a:r>
            <a:r>
              <a:rPr lang="en-GB" sz="2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28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2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2800" dirty="0"/>
              <a:t> tag to insert our JavaScript into our 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We can use it for events like a click of a button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In our context, we want to take the user input data from an HTML form that we created on the webpage, and export it to a file that can be read by a program like Microsoft Excel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How can we think like a computer to make this happen?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01418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JavaScript </a:t>
            </a:r>
            <a:r>
              <a:rPr lang="en-GB" sz="3200" dirty="0"/>
              <a:t>– 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When we’re programming, we have to think very logically and literally – the program will do exactly what you have asked it to do, with no assumptions beyond what you have explicitly stated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 know where we want to start – an empty form, and we know where we want to end – a populated spreadsheet – what are the steps we need to take to get there?</a:t>
            </a:r>
          </a:p>
          <a:p>
            <a:pPr marL="971550" lvl="2" indent="-514350">
              <a:buFont typeface="+mj-lt"/>
              <a:buAutoNum type="arabicPeriod"/>
            </a:pPr>
            <a:r>
              <a:rPr lang="en-GB" sz="2400" dirty="0"/>
              <a:t>Allow a user to type in their responses</a:t>
            </a:r>
          </a:p>
          <a:p>
            <a:pPr marL="971550" lvl="2" indent="-514350">
              <a:buFont typeface="+mj-lt"/>
              <a:buAutoNum type="arabicPeriod"/>
            </a:pPr>
            <a:r>
              <a:rPr lang="en-GB" sz="2400" dirty="0"/>
              <a:t>Save the responses from the user somewhere when they click submit</a:t>
            </a:r>
          </a:p>
          <a:p>
            <a:pPr marL="971550" lvl="2" indent="-514350">
              <a:buFont typeface="+mj-lt"/>
              <a:buAutoNum type="arabicPeriod"/>
            </a:pPr>
            <a:r>
              <a:rPr lang="en-GB" sz="2400" dirty="0"/>
              <a:t>Collate all the user responses as they keep submitting</a:t>
            </a:r>
          </a:p>
          <a:p>
            <a:pPr marL="971550" lvl="2" indent="-514350">
              <a:buFont typeface="+mj-lt"/>
              <a:buAutoNum type="arabicPeriod"/>
            </a:pPr>
            <a:r>
              <a:rPr lang="en-GB" sz="2400" dirty="0"/>
              <a:t>Write the stored information to an external file when you export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How can we tell the computer to do this?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1379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JavaScript </a:t>
            </a:r>
            <a:r>
              <a:rPr lang="en-GB" sz="3200" dirty="0"/>
              <a:t>–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 need somewhere to store the data – this is where variables come 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Variables are like little memory boxes – they can store information and manipulate it when we want, and we can reference variables when we want to retrieve or change something stored inside 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 define variables using keywords:</a:t>
            </a: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userData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userData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Graphik" panose="020B0503030202060203" pitchFamily="34" charset="77"/>
                <a:cs typeface="Consolas" panose="020B0609020204030204" pitchFamily="49" charset="0"/>
              </a:rPr>
              <a:t>We use </a:t>
            </a:r>
            <a:r>
              <a:rPr lang="en-GB" sz="2400" b="1" dirty="0">
                <a:latin typeface="Graphik" panose="020B0503030202060203" pitchFamily="34" charset="77"/>
                <a:cs typeface="Consolas" panose="020B0609020204030204" pitchFamily="49" charset="0"/>
              </a:rPr>
              <a:t>let</a:t>
            </a:r>
            <a:r>
              <a:rPr lang="en-GB" sz="2400" dirty="0">
                <a:latin typeface="Graphik" panose="020B0503030202060203" pitchFamily="34" charset="77"/>
                <a:cs typeface="Consolas" panose="020B0609020204030204" pitchFamily="49" charset="0"/>
              </a:rPr>
              <a:t> if the variable is something we want to change - we might want to do something do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Graphik" panose="020B0503030202060203" pitchFamily="34" charset="77"/>
                <a:cs typeface="Consolas" panose="020B0609020204030204" pitchFamily="49" charset="0"/>
              </a:rPr>
              <a:t>We use </a:t>
            </a:r>
            <a:r>
              <a:rPr lang="en-GB" sz="2400" b="1" dirty="0" err="1">
                <a:latin typeface="Graphik" panose="020B0503030202060203" pitchFamily="34" charset="77"/>
                <a:cs typeface="Consolas" panose="020B0609020204030204" pitchFamily="49" charset="0"/>
              </a:rPr>
              <a:t>const</a:t>
            </a:r>
            <a:r>
              <a:rPr lang="en-GB" sz="2400" dirty="0">
                <a:latin typeface="Graphik" panose="020B0503030202060203" pitchFamily="34" charset="77"/>
                <a:cs typeface="Consolas" panose="020B0609020204030204" pitchFamily="49" charset="0"/>
              </a:rPr>
              <a:t> is the variable is a constant – something that will never change</a:t>
            </a:r>
          </a:p>
        </p:txBody>
      </p:sp>
    </p:spTree>
    <p:extLst>
      <p:ext uri="{BB962C8B-B14F-4D97-AF65-F5344CB8AC3E}">
        <p14:creationId xmlns:p14="http://schemas.microsoft.com/office/powerpoint/2010/main" val="356397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JavaScript </a:t>
            </a:r>
            <a:r>
              <a:rPr lang="en-GB" sz="3200" dirty="0"/>
              <a:t>–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When we use variables, we are storing data, and there’s different types of data that we need to learn to store</a:t>
            </a:r>
          </a:p>
          <a:p>
            <a:endParaRPr lang="en-GB" sz="2400" dirty="0"/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we use this for any type of alphanumeric data</a:t>
            </a: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we use this for integers</a:t>
            </a: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we use this for true or false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we use this when we want to store key-value pairs</a:t>
            </a: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Array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we use this when we want to store things in a list</a:t>
            </a:r>
          </a:p>
        </p:txBody>
      </p:sp>
    </p:spTree>
    <p:extLst>
      <p:ext uri="{BB962C8B-B14F-4D97-AF65-F5344CB8AC3E}">
        <p14:creationId xmlns:p14="http://schemas.microsoft.com/office/powerpoint/2010/main" val="2186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JavaScript </a:t>
            </a:r>
            <a:r>
              <a:rPr lang="en-GB" sz="3200" dirty="0"/>
              <a:t>–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 use logic in order to make our code perform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This can be mathematical operations like:</a:t>
            </a: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+			Addition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-			Subtraction</a:t>
            </a: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*			Multiplication</a:t>
            </a: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/			Division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It can also be to compare things and figure out whether they’re true or false</a:t>
            </a: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 == b						a != b						a &lt;= b						a &gt; b					a &gt;= b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630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JavaScript </a:t>
            </a:r>
            <a:r>
              <a:rPr lang="en-GB" sz="3200" dirty="0"/>
              <a:t>– 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 can take </a:t>
            </a:r>
            <a:r>
              <a:rPr lang="en-GB" sz="2400" dirty="0">
                <a:solidFill>
                  <a:srgbClr val="00B050"/>
                </a:solidFill>
              </a:rPr>
              <a:t>logic</a:t>
            </a:r>
            <a:r>
              <a:rPr lang="en-GB" sz="2400" dirty="0"/>
              <a:t> and base certain operations on it, for example:</a:t>
            </a:r>
          </a:p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en-GB" sz="2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 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b </a:t>
            </a:r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		then do something…</a:t>
            </a:r>
          </a:p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else if ( 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 </a:t>
            </a:r>
            <a:r>
              <a:rPr lang="en-GB" sz="2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b </a:t>
            </a:r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		do something else…</a:t>
            </a:r>
          </a:p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else {</a:t>
            </a: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		do this instead…</a:t>
            </a:r>
          </a:p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24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JavaScript </a:t>
            </a:r>
            <a:r>
              <a:rPr lang="en-GB" sz="3200" dirty="0"/>
              <a:t>–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Alternatively, we can loop through arrays, and make things happen based on certain pieces of information, for example:</a:t>
            </a:r>
          </a:p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numbers_list</a:t>
            </a:r>
            <a:r>
              <a:rPr lang="en-GB" sz="2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= [0, 1, 3, 6, 10];</a:t>
            </a:r>
          </a:p>
          <a:p>
            <a:endParaRPr lang="en-GB" sz="2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of </a:t>
            </a:r>
            <a:r>
              <a:rPr lang="en-GB" sz="2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numbers_list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* 2;</a:t>
            </a: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GB" sz="2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console.log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GB" sz="2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numbers_list</a:t>
            </a:r>
            <a:r>
              <a:rPr lang="en-GB" sz="2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7286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JavaScript </a:t>
            </a:r>
            <a:r>
              <a:rPr lang="en-GB" sz="3200" dirty="0"/>
              <a:t>–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We can put </a:t>
            </a:r>
            <a:r>
              <a:rPr lang="en-GB" sz="1600" dirty="0">
                <a:solidFill>
                  <a:srgbClr val="FF0000"/>
                </a:solidFill>
              </a:rPr>
              <a:t>variables</a:t>
            </a:r>
            <a:r>
              <a:rPr lang="en-GB" sz="1600" dirty="0"/>
              <a:t> and </a:t>
            </a:r>
            <a:r>
              <a:rPr lang="en-GB" sz="1600" dirty="0">
                <a:solidFill>
                  <a:srgbClr val="7030A0"/>
                </a:solidFill>
              </a:rPr>
              <a:t>logic</a:t>
            </a:r>
            <a:r>
              <a:rPr lang="en-GB" sz="1600" dirty="0"/>
              <a:t> and </a:t>
            </a:r>
            <a:r>
              <a:rPr lang="en-GB" sz="1600" dirty="0">
                <a:solidFill>
                  <a:srgbClr val="FFC000"/>
                </a:solidFill>
              </a:rPr>
              <a:t>loops</a:t>
            </a:r>
            <a:r>
              <a:rPr lang="en-GB" sz="1600" dirty="0"/>
              <a:t> together and create small pieces of code called </a:t>
            </a:r>
            <a:r>
              <a:rPr lang="en-GB" sz="1600" dirty="0">
                <a:solidFill>
                  <a:srgbClr val="00B050"/>
                </a:solidFill>
              </a:rPr>
              <a:t>functions</a:t>
            </a:r>
            <a:r>
              <a:rPr lang="en-GB" sz="1600" dirty="0"/>
              <a:t> that serve specific purposes and that we can call in our code to do specific things, for example:</a:t>
            </a:r>
          </a:p>
          <a:p>
            <a:r>
              <a:rPr lang="en-GB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double_numbers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GB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   let 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doubled_array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= [] ;</a:t>
            </a:r>
          </a:p>
          <a:p>
            <a:r>
              <a:rPr lang="en-GB" sz="16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 (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of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</a:t>
            </a:r>
            <a:r>
              <a:rPr lang="en-GB" sz="16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		 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doubled_array</a:t>
            </a:r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.push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2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) ;</a:t>
            </a: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doubled_array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GB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numbers_list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= [0, 1, 3, 6, 10];</a:t>
            </a: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doubled_list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GB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doubleNumbers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numbers_list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GB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console.log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doubled_list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78275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JavaScript </a:t>
            </a:r>
            <a:r>
              <a:rPr lang="en-GB" sz="3200" dirty="0"/>
              <a:t>–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cs typeface="Consolas" panose="020B0609020204030204" pitchFamily="49" charset="0"/>
              </a:rPr>
              <a:t>An </a:t>
            </a:r>
            <a:r>
              <a:rPr lang="en-GB" sz="2400" dirty="0">
                <a:solidFill>
                  <a:schemeClr val="accent1"/>
                </a:solidFill>
                <a:cs typeface="Consolas" panose="020B0609020204030204" pitchFamily="49" charset="0"/>
              </a:rPr>
              <a:t>array</a:t>
            </a:r>
            <a:r>
              <a:rPr lang="en-GB" sz="2400" dirty="0">
                <a:cs typeface="Consolas" panose="020B0609020204030204" pitchFamily="49" charset="0"/>
              </a:rPr>
              <a:t> is another way of saying a 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cs typeface="Consolas" panose="020B0609020204030204" pitchFamily="49" charset="0"/>
              </a:rPr>
              <a:t>Arrays</a:t>
            </a:r>
            <a:r>
              <a:rPr lang="en-GB" sz="2400" dirty="0">
                <a:cs typeface="Consolas" panose="020B0609020204030204" pitchFamily="49" charset="0"/>
              </a:rPr>
              <a:t> can contain</a:t>
            </a:r>
            <a:r>
              <a:rPr lang="en-GB" sz="2400" dirty="0">
                <a:solidFill>
                  <a:srgbClr val="00B050"/>
                </a:solidFill>
                <a:cs typeface="Consolas" panose="020B0609020204030204" pitchFamily="49" charset="0"/>
              </a:rPr>
              <a:t> different </a:t>
            </a:r>
            <a:r>
              <a:rPr lang="en-GB" sz="2400" dirty="0">
                <a:solidFill>
                  <a:srgbClr val="0070C0"/>
                </a:solidFill>
                <a:cs typeface="Consolas" panose="020B0609020204030204" pitchFamily="49" charset="0"/>
              </a:rPr>
              <a:t>data types</a:t>
            </a:r>
            <a:r>
              <a:rPr lang="en-GB" sz="2400" dirty="0">
                <a:cs typeface="Consolas" panose="020B0609020204030204" pitchFamily="49" charset="0"/>
              </a:rPr>
              <a:t>, but they should be consistent e.g.</a:t>
            </a:r>
          </a:p>
          <a:p>
            <a:endParaRPr lang="en-GB" sz="2400" dirty="0">
              <a:cs typeface="Consolas" panose="020B0609020204030204" pitchFamily="49" charset="0"/>
            </a:endParaRPr>
          </a:p>
          <a:p>
            <a:r>
              <a:rPr lang="en-GB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numbers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3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72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35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GB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3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“Sam” </a:t>
            </a:r>
            <a:r>
              <a:rPr lang="en-GB" sz="3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“Paula” </a:t>
            </a:r>
            <a:r>
              <a:rPr lang="en-GB" sz="3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“Cherie” </a:t>
            </a:r>
            <a:r>
              <a:rPr lang="en-GB" sz="3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01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JavaScript </a:t>
            </a:r>
            <a:r>
              <a:rPr lang="en-GB" sz="3200" dirty="0"/>
              <a:t>–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cs typeface="Consolas" panose="020B0609020204030204" pitchFamily="49" charset="0"/>
              </a:rPr>
              <a:t>Objects</a:t>
            </a:r>
            <a:r>
              <a:rPr lang="en-GB" sz="2400" dirty="0">
                <a:cs typeface="Consolas" panose="020B0609020204030204" pitchFamily="49" charset="0"/>
              </a:rPr>
              <a:t> help us to organise and store key-value pairs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cs typeface="Consolas" panose="020B0609020204030204" pitchFamily="49" charset="0"/>
              </a:rPr>
              <a:t>This means that they contain </a:t>
            </a:r>
            <a:r>
              <a:rPr lang="en-GB" sz="2400" dirty="0">
                <a:solidFill>
                  <a:srgbClr val="FF0000"/>
                </a:solidFill>
                <a:cs typeface="Consolas" panose="020B0609020204030204" pitchFamily="49" charset="0"/>
              </a:rPr>
              <a:t>2 pieces </a:t>
            </a:r>
            <a:r>
              <a:rPr lang="en-GB" sz="2400" dirty="0">
                <a:cs typeface="Consolas" panose="020B0609020204030204" pitchFamily="49" charset="0"/>
              </a:rPr>
              <a:t>of information for each thing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let student1 =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“Sandy”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17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pass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let student2 =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“Andrea”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pass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let student3 =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“Cass”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pass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  <a:p>
            <a:endParaRPr lang="en-GB" sz="18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cs typeface="Consolas" panose="020B0609020204030204" pitchFamily="49" charset="0"/>
              </a:rPr>
              <a:t>We can access </a:t>
            </a:r>
            <a:r>
              <a:rPr lang="en-GB" sz="2400" dirty="0">
                <a:solidFill>
                  <a:srgbClr val="00B050"/>
                </a:solidFill>
                <a:cs typeface="Consolas" panose="020B0609020204030204" pitchFamily="49" charset="0"/>
              </a:rPr>
              <a:t>properties</a:t>
            </a:r>
            <a:r>
              <a:rPr lang="en-GB" sz="2400" dirty="0">
                <a:cs typeface="Consolas" panose="020B0609020204030204" pitchFamily="49" charset="0"/>
              </a:rPr>
              <a:t> within objects by using “.” like this: </a:t>
            </a:r>
          </a:p>
          <a:p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Console.log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student3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					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 Cass</a:t>
            </a:r>
          </a:p>
          <a:p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Console.log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student2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pass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					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 false</a:t>
            </a:r>
            <a:endParaRPr lang="en-GB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  <a:sym typeface="Wingdings" pitchFamily="2" charset="2"/>
            </a:endParaRPr>
          </a:p>
          <a:p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Console.log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student1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						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 17</a:t>
            </a:r>
            <a:endParaRPr lang="en-GB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solidFill>
                <a:srgbClr val="FF0000"/>
              </a:solidFill>
              <a:cs typeface="Consolas" panose="020B0609020204030204" pitchFamily="49" charset="0"/>
            </a:endParaRPr>
          </a:p>
          <a:p>
            <a:endParaRPr lang="en-GB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89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JavaScript </a:t>
            </a:r>
            <a:r>
              <a:rPr lang="en-GB" sz="3200" dirty="0"/>
              <a:t>– Ordering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Back to the scenario – we have a form that accepts different types of data and we need to store it, what were the steps?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We need a variable to store the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Graphik" panose="020B0503030202060203" pitchFamily="34" charset="77"/>
                <a:cs typeface="Consolas" panose="020B0609020204030204" pitchFamily="49" charset="0"/>
              </a:rPr>
              <a:t>We want to make sure we know what information is associated with what submission, so we might need a bit of both – objects are good at storing key-value pairs, and arrays are good at storing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Graphik" panose="020B0503030202060203" pitchFamily="34" charset="77"/>
                <a:cs typeface="Consolas" panose="020B0609020204030204" pitchFamily="49" charset="0"/>
              </a:rPr>
              <a:t>We want the end result to be an </a:t>
            </a:r>
            <a:r>
              <a:rPr lang="en-GB" sz="2400" dirty="0">
                <a:solidFill>
                  <a:srgbClr val="FF0000"/>
                </a:solidFill>
                <a:latin typeface="Graphik" panose="020B0503030202060203" pitchFamily="34" charset="77"/>
                <a:cs typeface="Consolas" panose="020B0609020204030204" pitchFamily="49" charset="0"/>
              </a:rPr>
              <a:t>array</a:t>
            </a:r>
            <a:r>
              <a:rPr lang="en-GB" sz="2400" dirty="0">
                <a:latin typeface="Graphik" panose="020B0503030202060203" pitchFamily="34" charset="77"/>
                <a:cs typeface="Consolas" panose="020B0609020204030204" pitchFamily="49" charset="0"/>
              </a:rPr>
              <a:t> of </a:t>
            </a:r>
            <a:r>
              <a:rPr lang="en-GB" sz="2400" dirty="0">
                <a:solidFill>
                  <a:srgbClr val="00B0F0"/>
                </a:solidFill>
                <a:latin typeface="Graphik" panose="020B0503030202060203" pitchFamily="34" charset="77"/>
                <a:cs typeface="Consolas" panose="020B0609020204030204" pitchFamily="49" charset="0"/>
              </a:rPr>
              <a:t>objects </a:t>
            </a:r>
            <a:r>
              <a:rPr lang="en-GB" sz="2400" dirty="0">
                <a:latin typeface="Graphik" panose="020B0503030202060203" pitchFamily="34" charset="77"/>
                <a:cs typeface="Consolas" panose="020B0609020204030204" pitchFamily="49" charset="0"/>
              </a:rPr>
              <a:t>containing </a:t>
            </a:r>
            <a:r>
              <a:rPr lang="en-GB" sz="2400" dirty="0" err="1">
                <a:solidFill>
                  <a:srgbClr val="00B050"/>
                </a:solidFill>
                <a:latin typeface="Graphik" panose="020B0503030202060203" pitchFamily="34" charset="77"/>
                <a:cs typeface="Consolas" panose="020B0609020204030204" pitchFamily="49" charset="0"/>
              </a:rPr>
              <a:t>ints</a:t>
            </a:r>
            <a:r>
              <a:rPr lang="en-GB" sz="2400" dirty="0">
                <a:latin typeface="Graphik" panose="020B0503030202060203" pitchFamily="34" charset="77"/>
                <a:cs typeface="Consolas" panose="020B0609020204030204" pitchFamily="49" charset="0"/>
              </a:rPr>
              <a:t>, and </a:t>
            </a:r>
            <a:r>
              <a:rPr lang="en-GB" sz="2400" dirty="0">
                <a:solidFill>
                  <a:srgbClr val="FFC000"/>
                </a:solidFill>
                <a:latin typeface="Graphik" panose="020B0503030202060203" pitchFamily="34" charset="77"/>
                <a:cs typeface="Consolas" panose="020B0609020204030204" pitchFamily="49" charset="0"/>
              </a:rPr>
              <a:t>strings</a:t>
            </a:r>
          </a:p>
          <a:p>
            <a:endParaRPr lang="en-GB" sz="2400" dirty="0">
              <a:solidFill>
                <a:srgbClr val="FFC000"/>
              </a:solidFill>
              <a:latin typeface="Graphik" panose="020B0503030202060203" pitchFamily="34" charset="77"/>
              <a:cs typeface="Consolas" panose="020B0609020204030204" pitchFamily="49" charset="0"/>
            </a:endParaRPr>
          </a:p>
          <a:p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GB" sz="2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house_cost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250000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GB" sz="2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bob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31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house_cost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30000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GB" sz="2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carla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19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house_cost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100000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GB" sz="2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damian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27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house_cost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185000</a:t>
            </a:r>
            <a:r>
              <a:rPr lang="en-GB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Graphik" panose="020B0503030202060203" pitchFamily="34" charset="77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2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JavaScript </a:t>
            </a:r>
            <a:r>
              <a:rPr lang="en-GB" sz="3200" dirty="0"/>
              <a:t>– Ordering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3012-4DB4-473C-ADE5-4B2B59B5F0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Back to the scenario – we have a form that accepts different types of data and we need to store it, what were the steps?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We need to know when to store the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Graphik" panose="020B0503030202060203" pitchFamily="34" charset="77"/>
                <a:cs typeface="Consolas" panose="020B0609020204030204" pitchFamily="49" charset="0"/>
              </a:rPr>
              <a:t>This is where it will be handy to use some of JavaScript's built-in </a:t>
            </a:r>
            <a:r>
              <a:rPr lang="en-GB" sz="2400" dirty="0">
                <a:solidFill>
                  <a:srgbClr val="00B050"/>
                </a:solidFill>
                <a:latin typeface="Graphik" panose="020B0503030202060203" pitchFamily="34" charset="77"/>
                <a:cs typeface="Consolas" panose="020B0609020204030204" pitchFamily="49" charset="0"/>
              </a:rPr>
              <a:t>functions</a:t>
            </a:r>
            <a:r>
              <a:rPr lang="en-GB" sz="2400" dirty="0">
                <a:latin typeface="Graphik" panose="020B0503030202060203" pitchFamily="34" charset="77"/>
                <a:cs typeface="Consolas" panose="020B0609020204030204" pitchFamily="49" charset="0"/>
              </a:rPr>
              <a:t> like </a:t>
            </a:r>
            <a:r>
              <a:rPr lang="en-GB" sz="2400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getElementById</a:t>
            </a:r>
            <a:r>
              <a:rPr lang="en-GB" sz="2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GB" sz="2400" dirty="0">
                <a:latin typeface="Graphik" panose="020B0503030202060203" pitchFamily="34" charset="77"/>
                <a:cs typeface="Consolas" panose="020B0609020204030204" pitchFamily="49" charset="0"/>
              </a:rPr>
              <a:t>or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addEventListener</a:t>
            </a:r>
            <a:r>
              <a:rPr lang="en-GB" sz="2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Graphik" panose="020B0503030202060203" pitchFamily="34" charset="77"/>
              <a:cs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Graphik" panose="020B0503030202060203" pitchFamily="34" charset="77"/>
                <a:cs typeface="Consolas" panose="020B0609020204030204" pitchFamily="49" charset="0"/>
              </a:rPr>
              <a:t>This is starting to get a bit more complicated, and it’s still not very tangible, let’s go through a demo and see what we want the end result to be, and figure out how we can get there</a:t>
            </a:r>
          </a:p>
        </p:txBody>
      </p:sp>
    </p:spTree>
    <p:extLst>
      <p:ext uri="{BB962C8B-B14F-4D97-AF65-F5344CB8AC3E}">
        <p14:creationId xmlns:p14="http://schemas.microsoft.com/office/powerpoint/2010/main" val="282514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190F-9F5F-411F-8534-648CEC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JavaScript </a:t>
            </a:r>
            <a:r>
              <a:rPr lang="en-GB" sz="3200" dirty="0"/>
              <a:t>– A Worked Demo</a:t>
            </a:r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DE30D35E-9EBA-F08D-79A5-296F4B518A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18" y="966842"/>
            <a:ext cx="6038582" cy="575145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E1773D-89CA-8EB2-75D7-6EC5D868F78C}"/>
              </a:ext>
            </a:extLst>
          </p:cNvPr>
          <p:cNvCxnSpPr>
            <a:cxnSpLocks/>
          </p:cNvCxnSpPr>
          <p:nvPr/>
        </p:nvCxnSpPr>
        <p:spPr>
          <a:xfrm flipH="1">
            <a:off x="4076700" y="1270000"/>
            <a:ext cx="51562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7A73A8-8D04-13DE-8E6C-2E8603BA74FC}"/>
              </a:ext>
            </a:extLst>
          </p:cNvPr>
          <p:cNvCxnSpPr>
            <a:cxnSpLocks/>
          </p:cNvCxnSpPr>
          <p:nvPr/>
        </p:nvCxnSpPr>
        <p:spPr>
          <a:xfrm flipH="1">
            <a:off x="2184400" y="1943100"/>
            <a:ext cx="70485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ACC632-5AF3-7F48-BBE9-503FEC389F94}"/>
              </a:ext>
            </a:extLst>
          </p:cNvPr>
          <p:cNvCxnSpPr>
            <a:cxnSpLocks/>
          </p:cNvCxnSpPr>
          <p:nvPr/>
        </p:nvCxnSpPr>
        <p:spPr>
          <a:xfrm flipH="1">
            <a:off x="4432300" y="2882900"/>
            <a:ext cx="48006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DF064E1-1A07-BA41-B74F-69BD91125271}"/>
              </a:ext>
            </a:extLst>
          </p:cNvPr>
          <p:cNvCxnSpPr>
            <a:cxnSpLocks/>
          </p:cNvCxnSpPr>
          <p:nvPr/>
        </p:nvCxnSpPr>
        <p:spPr>
          <a:xfrm flipH="1">
            <a:off x="2806700" y="3708400"/>
            <a:ext cx="64262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3D6418-B16E-5894-7929-606FF1D717B1}"/>
              </a:ext>
            </a:extLst>
          </p:cNvPr>
          <p:cNvCxnSpPr>
            <a:cxnSpLocks/>
          </p:cNvCxnSpPr>
          <p:nvPr/>
        </p:nvCxnSpPr>
        <p:spPr>
          <a:xfrm flipH="1">
            <a:off x="2495550" y="4356100"/>
            <a:ext cx="673735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8263858-6247-8BE1-B4F8-07B2CE992BD9}"/>
              </a:ext>
            </a:extLst>
          </p:cNvPr>
          <p:cNvCxnSpPr>
            <a:cxnSpLocks/>
          </p:cNvCxnSpPr>
          <p:nvPr/>
        </p:nvCxnSpPr>
        <p:spPr>
          <a:xfrm flipH="1">
            <a:off x="2438400" y="5156200"/>
            <a:ext cx="67945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7FE24F-0111-9F32-7D7A-32EA474A3CF7}"/>
              </a:ext>
            </a:extLst>
          </p:cNvPr>
          <p:cNvCxnSpPr>
            <a:cxnSpLocks/>
          </p:cNvCxnSpPr>
          <p:nvPr/>
        </p:nvCxnSpPr>
        <p:spPr>
          <a:xfrm flipH="1">
            <a:off x="5835650" y="1600200"/>
            <a:ext cx="339725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235681F-2945-8A8C-814C-4A1CB643C5F7}"/>
              </a:ext>
            </a:extLst>
          </p:cNvPr>
          <p:cNvCxnSpPr>
            <a:cxnSpLocks/>
          </p:cNvCxnSpPr>
          <p:nvPr/>
        </p:nvCxnSpPr>
        <p:spPr>
          <a:xfrm flipH="1">
            <a:off x="3178309" y="6131472"/>
            <a:ext cx="6054591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C3D665E-6818-271C-3DD3-09B074A0D32E}"/>
              </a:ext>
            </a:extLst>
          </p:cNvPr>
          <p:cNvCxnSpPr>
            <a:cxnSpLocks/>
          </p:cNvCxnSpPr>
          <p:nvPr/>
        </p:nvCxnSpPr>
        <p:spPr>
          <a:xfrm flipH="1">
            <a:off x="5835650" y="5340131"/>
            <a:ext cx="339725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34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84AFE-DD52-E2B9-8929-20FA9B7F7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EB75A-8E6F-BA03-0812-C885CFD54FA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9</a:t>
            </a:r>
            <a:r>
              <a:rPr kumimoji="0" lang="en-US" sz="1400" b="1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th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April 2024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64B36-657D-9D3F-CE3E-794337A5D4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>
                <a:latin typeface="+mj-lt"/>
              </a:rPr>
              <a:t>Accenture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B8EC32-B340-9A6C-6E68-D085A9511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1" y="1456376"/>
            <a:ext cx="5284075" cy="2779294"/>
          </a:xfrm>
        </p:spPr>
        <p:txBody>
          <a:bodyPr/>
          <a:lstStyle/>
          <a:p>
            <a:r>
              <a:rPr lang="en-GB" sz="6600" dirty="0"/>
              <a:t>Intro to Python  GenAI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87123A-7486-ED5C-0325-CF99A98DDB44}"/>
              </a:ext>
            </a:extLst>
          </p:cNvPr>
          <p:cNvSpPr txBox="1"/>
          <p:nvPr/>
        </p:nvSpPr>
        <p:spPr>
          <a:xfrm>
            <a:off x="3600450" y="-2857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52A4D-1E50-73DB-076D-E8587BB7A2F7}"/>
              </a:ext>
            </a:extLst>
          </p:cNvPr>
          <p:cNvSpPr txBox="1"/>
          <p:nvPr/>
        </p:nvSpPr>
        <p:spPr>
          <a:xfrm>
            <a:off x="914400" y="62536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638D1-96BF-9199-35C2-E705E92517AC}"/>
              </a:ext>
            </a:extLst>
          </p:cNvPr>
          <p:cNvSpPr txBox="1"/>
          <p:nvPr/>
        </p:nvSpPr>
        <p:spPr>
          <a:xfrm>
            <a:off x="1177159" y="62536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95103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A8C1-15A0-3AD3-7A2C-D18DAD3D4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38FC-1F7F-0EB6-0777-B15857792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Python </a:t>
            </a:r>
            <a:r>
              <a:rPr lang="en-GB" sz="3200" dirty="0"/>
              <a:t>– 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188D9-E5B2-613E-569E-CA2A0DFEEFB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Python helps to automate tasks, run logic on the server, and process data. It makes things happen behind the scenes (not just in the browser).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So far, with only HTML/CSS we build static pages, Python lets the output change based on input, files, or external services.</a:t>
            </a:r>
            <a:endParaRPr lang="en-GB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With Python you can write scripts, build web backends (e.g., Flask), or call APIs to create personalised, data-driven experiences.</a:t>
            </a:r>
            <a:endParaRPr lang="en-GB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Python is a readable, general-purpose programming language with a large library ecosystem that executes clear instructions to perform real work (automation, web, data, AI).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798424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C6C36-9303-B7BE-3419-3F2119390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2E0BB-FC37-36BF-2A47-3693911DB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Python </a:t>
            </a:r>
            <a:r>
              <a:rPr lang="en-GB" sz="3200" dirty="0"/>
              <a:t>– 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27007-0FC3-870A-5F1D-B3D5ED4810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3349" y="1017442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b="1" dirty="0"/>
              <a:t>What is a variable in Python? 🧾</a:t>
            </a:r>
          </a:p>
          <a:p>
            <a:r>
              <a:rPr lang="en-GB" dirty="0"/>
              <a:t>A variable is a name that stores a value; Python figures out the value’s type automatically (dynamic typing).</a:t>
            </a:r>
          </a:p>
          <a:p>
            <a:endParaRPr lang="en-GB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2FD5C-4EEA-66E2-CC62-FC7C5B477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07" y="2711412"/>
            <a:ext cx="5457412" cy="209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38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00E1B-1843-6268-ECAE-92E617C0C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79833-AE80-AE4A-04B8-B12454EA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Python </a:t>
            </a:r>
            <a:r>
              <a:rPr lang="en-GB" sz="3200" dirty="0"/>
              <a:t>– </a:t>
            </a:r>
            <a:r>
              <a:rPr lang="en-GB" dirty="0"/>
              <a:t> Control flow:   If</a:t>
            </a:r>
            <a:br>
              <a:rPr lang="en-GB" dirty="0"/>
            </a:b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C4C23-64D7-C205-C57A-E31154902F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518887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b="1" dirty="0"/>
              <a:t>If condition ✅</a:t>
            </a:r>
          </a:p>
          <a:p>
            <a:r>
              <a:rPr lang="en-GB" b="1" dirty="0"/>
              <a:t>If</a:t>
            </a:r>
            <a:r>
              <a:rPr lang="en-GB" dirty="0"/>
              <a:t> runs a block of code only when a Boolean expression is True (use </a:t>
            </a:r>
            <a:r>
              <a:rPr lang="en-GB" dirty="0" err="1"/>
              <a:t>elif</a:t>
            </a:r>
            <a:r>
              <a:rPr lang="en-GB" dirty="0"/>
              <a:t> and else for alternatives)</a:t>
            </a:r>
          </a:p>
          <a:p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2B4A7B-7F81-18EA-0E06-934496365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8" y="2911448"/>
            <a:ext cx="2687951" cy="164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61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AC4D0-D2C3-944E-C954-CA4AEC2D3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4A62-DA85-425A-0579-F61FCD5E1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Python </a:t>
            </a:r>
            <a:r>
              <a:rPr lang="en-GB" sz="3200" dirty="0"/>
              <a:t>– </a:t>
            </a:r>
            <a:r>
              <a:rPr lang="en-GB" dirty="0"/>
              <a:t> Control flow :  For</a:t>
            </a:r>
            <a:br>
              <a:rPr lang="en-GB" dirty="0"/>
            </a:b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2A38A-DCB2-84AB-B137-B0E37173DE0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b="1" dirty="0"/>
              <a:t>For loop 🔁</a:t>
            </a:r>
          </a:p>
          <a:p>
            <a:r>
              <a:rPr lang="en-GB" dirty="0"/>
              <a:t>Repeats a block of code once for each item in an </a:t>
            </a:r>
            <a:r>
              <a:rPr lang="en-GB" dirty="0" err="1"/>
              <a:t>iterable</a:t>
            </a:r>
            <a:r>
              <a:rPr lang="en-GB" dirty="0"/>
              <a:t> (list, range, string, </a:t>
            </a:r>
            <a:r>
              <a:rPr lang="en-GB" dirty="0" err="1"/>
              <a:t>dict</a:t>
            </a:r>
            <a:r>
              <a:rPr lang="en-GB" dirty="0"/>
              <a:t>, etc.).</a:t>
            </a:r>
          </a:p>
          <a:p>
            <a:pPr marL="685800" lvl="4" indent="0">
              <a:buNone/>
            </a:pP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9CE892-0D99-722B-67CF-9ADEEB8A7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81" y="2404542"/>
            <a:ext cx="3128254" cy="304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3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D7490-6E27-7791-978C-EE4AF2071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D0511-3BD1-19C2-3E78-C70EF1247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Python </a:t>
            </a:r>
            <a:r>
              <a:rPr lang="en-GB" sz="3200" dirty="0"/>
              <a:t>– </a:t>
            </a:r>
            <a:r>
              <a:rPr lang="en-GB" dirty="0"/>
              <a:t> Control flow : While</a:t>
            </a:r>
            <a:br>
              <a:rPr lang="en-GB" dirty="0"/>
            </a:b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ED704-F07C-7B7E-62FD-562AB3D2C2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b="1" dirty="0"/>
              <a:t>What is a while loop in Python? 🔁</a:t>
            </a:r>
          </a:p>
          <a:p>
            <a:r>
              <a:rPr lang="en-GB" b="1" dirty="0"/>
              <a:t>One-liner:</a:t>
            </a:r>
            <a:r>
              <a:rPr lang="en-GB" dirty="0"/>
              <a:t> Repeats a block of code as long as a condition remains true.</a:t>
            </a:r>
          </a:p>
          <a:p>
            <a:r>
              <a:rPr lang="en-GB" dirty="0"/>
              <a:t>	</a:t>
            </a:r>
          </a:p>
          <a:p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EC405-842D-A776-C637-AB1F166A6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727" y="2514477"/>
            <a:ext cx="2256833" cy="17035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E1CAAA-EF8F-63AA-80DA-4ECA7884E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308" y="2577219"/>
            <a:ext cx="2340077" cy="170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5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57AF9-FB18-E902-83E6-51D201908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FC92-46DC-4561-AEB6-E56D25894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Python </a:t>
            </a:r>
            <a:r>
              <a:rPr lang="en-GB" sz="3200" dirty="0"/>
              <a:t>– </a:t>
            </a:r>
            <a:r>
              <a:rPr lang="en-GB" dirty="0"/>
              <a:t> Functions 🧠</a:t>
            </a:r>
            <a:br>
              <a:rPr lang="en-GB" dirty="0"/>
            </a:b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89BB4-9EF8-5323-893C-216D9C2134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br>
              <a:rPr lang="en-GB" dirty="0"/>
            </a:b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EE3963-69B2-255A-3F25-A91A3F5394F4}"/>
              </a:ext>
            </a:extLst>
          </p:cNvPr>
          <p:cNvSpPr txBox="1">
            <a:spLocks/>
          </p:cNvSpPr>
          <p:nvPr/>
        </p:nvSpPr>
        <p:spPr>
          <a:xfrm>
            <a:off x="319546" y="1103367"/>
            <a:ext cx="10977716" cy="4876800"/>
          </a:xfrm>
          <a:prstGeom prst="rect">
            <a:avLst/>
          </a:prstGeom>
        </p:spPr>
        <p:txBody>
          <a:bodyPr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Functions 🧩</a:t>
            </a:r>
          </a:p>
          <a:p>
            <a:r>
              <a:rPr lang="en-GB" b="1" dirty="0"/>
              <a:t>A function</a:t>
            </a:r>
            <a:r>
              <a:rPr lang="en-GB" dirty="0"/>
              <a:t> is a named, reusable block of code that accepts inputs (arguments), performs work, and can return a result.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898A25-31BF-157E-0C25-5EE4867CF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16" y="2379406"/>
            <a:ext cx="4050887" cy="422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15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FDF75-5F40-4AE2-079B-8E3A69CF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55CDD-3757-1231-C042-42627F41F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Python </a:t>
            </a:r>
            <a:r>
              <a:rPr lang="en-GB" sz="3200" dirty="0"/>
              <a:t>– </a:t>
            </a:r>
            <a:r>
              <a:rPr lang="en-GB" dirty="0"/>
              <a:t> Imports 🧠</a:t>
            </a:r>
            <a:br>
              <a:rPr lang="en-GB" dirty="0"/>
            </a:b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AC214-CFC8-2CA4-ABE3-A8D132CEB25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br>
              <a:rPr lang="en-GB" dirty="0"/>
            </a:b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2E6F75-69D1-38E4-3DDD-BEC7BE7FE74E}"/>
              </a:ext>
            </a:extLst>
          </p:cNvPr>
          <p:cNvSpPr txBox="1">
            <a:spLocks/>
          </p:cNvSpPr>
          <p:nvPr/>
        </p:nvSpPr>
        <p:spPr>
          <a:xfrm>
            <a:off x="319546" y="1103367"/>
            <a:ext cx="10977716" cy="4876800"/>
          </a:xfrm>
          <a:prstGeom prst="rect">
            <a:avLst/>
          </a:prstGeom>
        </p:spPr>
        <p:txBody>
          <a:bodyPr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What is import in Python? 🔧</a:t>
            </a:r>
          </a:p>
          <a:p>
            <a:r>
              <a:rPr lang="en-GB" dirty="0"/>
              <a:t>import brings code (functions, classes, variables) from another module into your current file so you can reuse it.</a:t>
            </a:r>
          </a:p>
          <a:p>
            <a:endParaRPr lang="en-GB" dirty="0"/>
          </a:p>
          <a:p>
            <a:r>
              <a:rPr lang="en-GB" dirty="0"/>
              <a:t>	</a:t>
            </a:r>
          </a:p>
          <a:p>
            <a:pPr>
              <a:defRPr sz="1400"/>
            </a:pPr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7C36DB-C091-318C-8338-E55EB0EAD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4" y="2647910"/>
            <a:ext cx="3619652" cy="290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1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660F-27D2-8E0E-22C9-BF0E94F5C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14D9D-6209-62FB-2A1A-3B9B2831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Python </a:t>
            </a:r>
            <a:r>
              <a:rPr lang="en-GB" sz="3200" dirty="0"/>
              <a:t>– </a:t>
            </a:r>
            <a:r>
              <a:rPr lang="en-GB" dirty="0"/>
              <a:t> Code </a:t>
            </a:r>
            <a:r>
              <a:rPr lang="en-GB"/>
              <a:t>Walkthrough: </a:t>
            </a:r>
            <a:r>
              <a:rPr lang="en-GB" sz="3200"/>
              <a:t>Quick </a:t>
            </a:r>
            <a:r>
              <a:rPr lang="en-GB" sz="3200" dirty="0"/>
              <a:t>Guide 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BA5FF-8964-B150-AD28-90362446102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>
              <a:defRPr sz="1400"/>
            </a:pPr>
            <a:br>
              <a:rPr lang="en-GB" dirty="0"/>
            </a:b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CFADCE-98BF-A031-9FA2-B20AA217480E}"/>
              </a:ext>
            </a:extLst>
          </p:cNvPr>
          <p:cNvSpPr txBox="1">
            <a:spLocks/>
          </p:cNvSpPr>
          <p:nvPr/>
        </p:nvSpPr>
        <p:spPr>
          <a:xfrm>
            <a:off x="380999" y="1339342"/>
            <a:ext cx="10977716" cy="4876800"/>
          </a:xfrm>
          <a:prstGeom prst="rect">
            <a:avLst/>
          </a:prstGeom>
        </p:spPr>
        <p:txBody>
          <a:bodyPr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/>
            </a:pP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6452B4-3B8C-B465-36F4-522F8DE8ED09}"/>
              </a:ext>
            </a:extLst>
          </p:cNvPr>
          <p:cNvSpPr txBox="1"/>
          <p:nvPr/>
        </p:nvSpPr>
        <p:spPr>
          <a:xfrm>
            <a:off x="1081549" y="1423991"/>
            <a:ext cx="10540179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GB" b="1" dirty="0"/>
              <a:t>Where to look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File:</a:t>
            </a:r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Segoe WPC"/>
                <a:hlinkClick r:id="rId3"/>
              </a:rPr>
              <a:t>app_simple.py</a:t>
            </a:r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  </a:t>
            </a:r>
            <a:r>
              <a:rPr lang="en-GB" dirty="0"/>
              <a:t>the simple Flask backend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File:</a:t>
            </a:r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Segoe WPC"/>
                <a:hlinkClick r:id="rId3"/>
              </a:rPr>
              <a:t>config.py</a:t>
            </a:r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  </a:t>
            </a:r>
            <a:r>
              <a:rPr lang="en-GB" dirty="0"/>
              <a:t>environment and API key checks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dirty="0">
              <a:solidFill>
                <a:srgbClr val="CCCCCC"/>
              </a:solidFill>
              <a:latin typeface="Segoe WPC"/>
            </a:endParaRPr>
          </a:p>
          <a:p>
            <a:pPr>
              <a:lnSpc>
                <a:spcPct val="150000"/>
              </a:lnSpc>
            </a:pPr>
            <a:r>
              <a:rPr lang="en-GB" b="1" dirty="0"/>
              <a:t>High-level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Load environment variables (API key)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Configure the Google Generative AI client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Start a Flask app and enable CORS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Expose </a:t>
            </a:r>
            <a:r>
              <a:rPr lang="en-GB" dirty="0">
                <a:hlinkClick r:id="rId3"/>
              </a:rPr>
              <a:t>/generate-prompt</a:t>
            </a:r>
            <a:r>
              <a:rPr lang="en-GB" dirty="0"/>
              <a:t> (POST): read JSON → build prompt → call model → return 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Expose </a:t>
            </a:r>
            <a:r>
              <a:rPr lang="en-GB" dirty="0">
                <a:hlinkClick r:id="rId3"/>
              </a:rPr>
              <a:t>/health</a:t>
            </a:r>
            <a:r>
              <a:rPr lang="en-GB" dirty="0"/>
              <a:t> (GET) for a simple status check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CCCCCC"/>
              </a:solidFill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183476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A24C-BF5C-F81C-0DF6-082CF6F31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547FE-06E6-85F9-CE61-8561104F2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Python </a:t>
            </a:r>
            <a:r>
              <a:rPr lang="en-GB" sz="3200" dirty="0"/>
              <a:t>– </a:t>
            </a:r>
            <a:r>
              <a:rPr lang="en-GB" dirty="0"/>
              <a:t> Code Walkthrough:</a:t>
            </a:r>
            <a:br>
              <a:rPr lang="en-GB" dirty="0"/>
            </a:br>
            <a:r>
              <a:rPr lang="en-GB" sz="3200" dirty="0"/>
              <a:t>Read the Files  Quick Guide 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A34E4-AC54-9BA3-EBBB-49537842A74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>
              <a:defRPr sz="1400"/>
            </a:pPr>
            <a:br>
              <a:rPr lang="en-GB" dirty="0"/>
            </a:b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250463B-EFFA-65A8-AE8C-DA73DF9BCBFC}"/>
              </a:ext>
            </a:extLst>
          </p:cNvPr>
          <p:cNvSpPr txBox="1">
            <a:spLocks/>
          </p:cNvSpPr>
          <p:nvPr/>
        </p:nvSpPr>
        <p:spPr>
          <a:xfrm>
            <a:off x="380999" y="1339342"/>
            <a:ext cx="10977716" cy="4876800"/>
          </a:xfrm>
          <a:prstGeom prst="rect">
            <a:avLst/>
          </a:prstGeom>
        </p:spPr>
        <p:txBody>
          <a:bodyPr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/>
            </a:pP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E1B17-A509-AE16-ACCA-677178929523}"/>
              </a:ext>
            </a:extLst>
          </p:cNvPr>
          <p:cNvSpPr txBox="1"/>
          <p:nvPr/>
        </p:nvSpPr>
        <p:spPr>
          <a:xfrm>
            <a:off x="380998" y="1243584"/>
            <a:ext cx="1106374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Key constructs and examples (map to lines in </a:t>
            </a:r>
            <a:r>
              <a:rPr lang="en-GB" dirty="0">
                <a:hlinkClick r:id="rId3"/>
              </a:rPr>
              <a:t>app_simple.py</a:t>
            </a:r>
            <a:r>
              <a:rPr lang="en-GB" b="1" dirty="0"/>
              <a:t>)</a:t>
            </a:r>
          </a:p>
          <a:p>
            <a:pPr>
              <a:lnSpc>
                <a:spcPct val="150000"/>
              </a:lnSpc>
            </a:pPr>
            <a:r>
              <a:rPr lang="en-GB" b="1" dirty="0"/>
              <a:t>Imports: </a:t>
            </a:r>
            <a:r>
              <a:rPr lang="en-GB" dirty="0"/>
              <a:t> bring packages into the file: </a:t>
            </a:r>
            <a:r>
              <a:rPr lang="en-GB" dirty="0">
                <a:hlinkClick r:id="rId3"/>
              </a:rPr>
              <a:t>import </a:t>
            </a:r>
            <a:r>
              <a:rPr lang="en-GB" dirty="0" err="1">
                <a:hlinkClick r:id="rId3"/>
              </a:rPr>
              <a:t>os</a:t>
            </a:r>
            <a:r>
              <a:rPr lang="en-GB" dirty="0"/>
              <a:t>, </a:t>
            </a:r>
            <a:r>
              <a:rPr lang="en-GB" dirty="0">
                <a:hlinkClick r:id="rId3"/>
              </a:rPr>
              <a:t>from flask import Flask, request, </a:t>
            </a:r>
            <a:r>
              <a:rPr lang="en-GB" dirty="0" err="1">
                <a:hlinkClick r:id="rId3"/>
              </a:rPr>
              <a:t>jsonify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Load env:</a:t>
            </a:r>
            <a:r>
              <a:rPr lang="en-GB" dirty="0"/>
              <a:t> </a:t>
            </a:r>
            <a:r>
              <a:rPr lang="en-GB" dirty="0" err="1">
                <a:hlinkClick r:id="rId3"/>
              </a:rPr>
              <a:t>load_dotenv</a:t>
            </a:r>
            <a:r>
              <a:rPr lang="en-GB" dirty="0">
                <a:hlinkClick r:id="rId3"/>
              </a:rPr>
              <a:t>()</a:t>
            </a:r>
            <a:r>
              <a:rPr lang="en-GB" dirty="0"/>
              <a:t> and </a:t>
            </a:r>
            <a:r>
              <a:rPr lang="en-GB" dirty="0">
                <a:hlinkClick r:id="rId3"/>
              </a:rPr>
              <a:t>API_KEY = </a:t>
            </a:r>
            <a:r>
              <a:rPr lang="en-GB" dirty="0" err="1">
                <a:hlinkClick r:id="rId3"/>
              </a:rPr>
              <a:t>os.getenv</a:t>
            </a:r>
            <a:r>
              <a:rPr lang="en-GB" dirty="0">
                <a:hlinkClick r:id="rId3"/>
              </a:rPr>
              <a:t>('GOOGLE_API_KEY')</a:t>
            </a:r>
            <a:r>
              <a:rPr lang="en-GB" dirty="0"/>
              <a:t> (safe secret handling)</a:t>
            </a:r>
          </a:p>
          <a:p>
            <a:pPr>
              <a:lnSpc>
                <a:spcPct val="150000"/>
              </a:lnSpc>
            </a:pPr>
            <a:r>
              <a:rPr lang="en-GB" b="1" dirty="0"/>
              <a:t>Condition / Guard:</a:t>
            </a:r>
            <a:r>
              <a:rPr lang="en-GB" dirty="0"/>
              <a:t> </a:t>
            </a:r>
            <a:r>
              <a:rPr lang="en-GB" dirty="0">
                <a:hlinkClick r:id="rId3"/>
              </a:rPr>
              <a:t>if not API_KEY: raise </a:t>
            </a:r>
            <a:r>
              <a:rPr lang="en-GB" dirty="0" err="1">
                <a:hlinkClick r:id="rId3"/>
              </a:rPr>
              <a:t>RuntimeError</a:t>
            </a:r>
            <a:r>
              <a:rPr lang="en-GB" dirty="0">
                <a:hlinkClick r:id="rId3"/>
              </a:rPr>
              <a:t>(...)</a:t>
            </a:r>
            <a:r>
              <a:rPr lang="en-GB" dirty="0"/>
              <a:t> (fail fast with clear message)</a:t>
            </a:r>
          </a:p>
          <a:p>
            <a:pPr>
              <a:lnSpc>
                <a:spcPct val="150000"/>
              </a:lnSpc>
            </a:pPr>
            <a:r>
              <a:rPr lang="en-GB" b="1" dirty="0"/>
              <a:t>Flask app &amp; decorator:</a:t>
            </a:r>
            <a:r>
              <a:rPr lang="en-GB" dirty="0"/>
              <a:t> </a:t>
            </a:r>
            <a:r>
              <a:rPr lang="en-GB" dirty="0">
                <a:hlinkClick r:id="rId3"/>
              </a:rPr>
              <a:t>@app.route('/generate-prompt', methods=['POST'])</a:t>
            </a:r>
            <a:r>
              <a:rPr lang="en-GB" dirty="0"/>
              <a:t> defines a request handler function</a:t>
            </a:r>
          </a:p>
          <a:p>
            <a:pPr>
              <a:lnSpc>
                <a:spcPct val="150000"/>
              </a:lnSpc>
            </a:pPr>
            <a:r>
              <a:rPr lang="en-GB" b="1" dirty="0"/>
              <a:t>Reading JSON:</a:t>
            </a:r>
            <a:r>
              <a:rPr lang="en-GB" dirty="0"/>
              <a:t> </a:t>
            </a:r>
            <a:r>
              <a:rPr lang="en-GB" dirty="0">
                <a:hlinkClick r:id="rId3"/>
              </a:rPr>
              <a:t>data = </a:t>
            </a:r>
            <a:r>
              <a:rPr lang="en-GB" dirty="0" err="1">
                <a:hlinkClick r:id="rId3"/>
              </a:rPr>
              <a:t>request.get_json</a:t>
            </a:r>
            <a:r>
              <a:rPr lang="en-GB" dirty="0">
                <a:hlinkClick r:id="rId3"/>
              </a:rPr>
              <a:t>() or {}</a:t>
            </a:r>
            <a:r>
              <a:rPr lang="en-GB" dirty="0"/>
              <a:t> (safe extraction with defaults)</a:t>
            </a:r>
          </a:p>
          <a:p>
            <a:pPr>
              <a:lnSpc>
                <a:spcPct val="150000"/>
              </a:lnSpc>
            </a:pPr>
            <a:r>
              <a:rPr lang="en-GB" b="1" dirty="0"/>
              <a:t>String &amp; list handling:</a:t>
            </a:r>
            <a:r>
              <a:rPr lang="en-GB" dirty="0"/>
              <a:t> </a:t>
            </a:r>
            <a:r>
              <a:rPr lang="en-GB" dirty="0" err="1">
                <a:hlinkClick r:id="rId3"/>
              </a:rPr>
              <a:t>studies_text</a:t>
            </a:r>
            <a:r>
              <a:rPr lang="en-GB" dirty="0">
                <a:hlinkClick r:id="rId3"/>
              </a:rPr>
              <a:t> = ', '.join(studies)</a:t>
            </a:r>
            <a:r>
              <a:rPr lang="en-GB" dirty="0"/>
              <a:t> (list → readable string)</a:t>
            </a:r>
          </a:p>
          <a:p>
            <a:pPr>
              <a:lnSpc>
                <a:spcPct val="150000"/>
              </a:lnSpc>
            </a:pPr>
            <a:r>
              <a:rPr lang="en-GB" b="1" dirty="0"/>
              <a:t>Calling external APIs:</a:t>
            </a:r>
            <a:r>
              <a:rPr lang="en-GB" dirty="0"/>
              <a:t> </a:t>
            </a:r>
            <a:r>
              <a:rPr lang="en-GB" dirty="0" err="1">
                <a:hlinkClick r:id="rId3"/>
              </a:rPr>
              <a:t>model.generate_content</a:t>
            </a:r>
            <a:r>
              <a:rPr lang="en-GB" dirty="0">
                <a:hlinkClick r:id="rId3"/>
              </a:rPr>
              <a:t>(prompt)</a:t>
            </a:r>
            <a:r>
              <a:rPr lang="en-GB" dirty="0"/>
              <a:t> (use the client library to call an LLM)</a:t>
            </a:r>
          </a:p>
          <a:p>
            <a:pPr>
              <a:lnSpc>
                <a:spcPct val="150000"/>
              </a:lnSpc>
            </a:pPr>
            <a:r>
              <a:rPr lang="en-GB" b="1" dirty="0"/>
              <a:t>Safe attribute access:</a:t>
            </a:r>
            <a:r>
              <a:rPr lang="en-GB" dirty="0"/>
              <a:t> </a:t>
            </a:r>
            <a:r>
              <a:rPr lang="en-GB" dirty="0" err="1">
                <a:hlinkClick r:id="rId3"/>
              </a:rPr>
              <a:t>getattr</a:t>
            </a:r>
            <a:r>
              <a:rPr lang="en-GB" dirty="0">
                <a:hlinkClick r:id="rId3"/>
              </a:rPr>
              <a:t>(response, 'text', str(response))</a:t>
            </a:r>
            <a:r>
              <a:rPr lang="en-GB" dirty="0"/>
              <a:t> (avoid attribute errors)</a:t>
            </a:r>
          </a:p>
          <a:p>
            <a:pPr>
              <a:lnSpc>
                <a:spcPct val="150000"/>
              </a:lnSpc>
            </a:pPr>
            <a:r>
              <a:rPr lang="en-GB" b="1" dirty="0"/>
              <a:t>Return JSON response:</a:t>
            </a:r>
            <a:r>
              <a:rPr lang="en-GB" dirty="0"/>
              <a:t> return </a:t>
            </a:r>
            <a:r>
              <a:rPr lang="en-GB" dirty="0" err="1"/>
              <a:t>jsonify</a:t>
            </a:r>
            <a:r>
              <a:rPr lang="en-GB" dirty="0"/>
              <a:t>({'success': True, 'response': </a:t>
            </a:r>
            <a:r>
              <a:rPr lang="en-GB" dirty="0" err="1"/>
              <a:t>ai_text</a:t>
            </a:r>
            <a:r>
              <a:rPr lang="en-GB" dirty="0"/>
              <a:t>}), 200</a:t>
            </a:r>
          </a:p>
          <a:p>
            <a:pPr>
              <a:lnSpc>
                <a:spcPct val="150000"/>
              </a:lnSpc>
            </a:pPr>
            <a:r>
              <a:rPr lang="en-GB" b="1" dirty="0"/>
              <a:t>Main guard: </a:t>
            </a:r>
            <a:r>
              <a:rPr lang="en-GB" dirty="0">
                <a:hlinkClick r:id="rId3"/>
              </a:rPr>
              <a:t>if __name__ == '__main__': </a:t>
            </a:r>
            <a:r>
              <a:rPr lang="en-GB" dirty="0" err="1">
                <a:hlinkClick r:id="rId3"/>
              </a:rPr>
              <a:t>app.run</a:t>
            </a:r>
            <a:r>
              <a:rPr lang="en-GB" dirty="0">
                <a:hlinkClick r:id="rId3"/>
              </a:rPr>
              <a:t>(...)</a:t>
            </a:r>
            <a:r>
              <a:rPr lang="en-GB" dirty="0"/>
              <a:t> (run app only when executed directly)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CCCCCC"/>
              </a:solidFill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2405996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46664-35C4-5879-A5D2-7F49101D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0A2F1-55E9-02B3-317B-39F3EB57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2"/>
                </a:solidFill>
              </a:rPr>
              <a:t>Python </a:t>
            </a:r>
            <a:r>
              <a:rPr lang="en-GB" sz="3200" dirty="0"/>
              <a:t>– </a:t>
            </a:r>
            <a:r>
              <a:rPr lang="en-GB" dirty="0"/>
              <a:t> Code Walkthrough:</a:t>
            </a:r>
            <a:br>
              <a:rPr lang="en-GB" dirty="0"/>
            </a:br>
            <a:r>
              <a:rPr lang="en-GB" sz="3200" dirty="0"/>
              <a:t>Read the Files  Quick Guide 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27771-C995-4687-FBE7-861D465CC1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243584"/>
            <a:ext cx="11430000" cy="5068317"/>
          </a:xfrm>
        </p:spPr>
        <p:txBody>
          <a:bodyPr vert="horz" lIns="0" tIns="0" rIns="0" bIns="0" rtlCol="0" anchor="t">
            <a:noAutofit/>
          </a:bodyPr>
          <a:lstStyle/>
          <a:p>
            <a:pPr>
              <a:defRPr sz="1400"/>
            </a:pPr>
            <a:br>
              <a:rPr lang="en-GB" dirty="0"/>
            </a:b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4256B7-ED38-2607-5E2B-FCD2EC49F806}"/>
              </a:ext>
            </a:extLst>
          </p:cNvPr>
          <p:cNvSpPr txBox="1">
            <a:spLocks/>
          </p:cNvSpPr>
          <p:nvPr/>
        </p:nvSpPr>
        <p:spPr>
          <a:xfrm>
            <a:off x="380999" y="1339342"/>
            <a:ext cx="10977716" cy="4876800"/>
          </a:xfrm>
          <a:prstGeom prst="rect">
            <a:avLst/>
          </a:prstGeom>
        </p:spPr>
        <p:txBody>
          <a:bodyPr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/>
            </a:pPr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A5FAB3-8741-A329-0F85-D26786E35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0" y="1295018"/>
            <a:ext cx="4490476" cy="518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89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2474</TotalTime>
  <Words>3499</Words>
  <Application>Microsoft Office PowerPoint</Application>
  <PresentationFormat>Widescreen</PresentationFormat>
  <Paragraphs>341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5" baseType="lpstr">
      <vt:lpstr>Aptos</vt:lpstr>
      <vt:lpstr>Arial</vt:lpstr>
      <vt:lpstr>Calibri</vt:lpstr>
      <vt:lpstr>Consolas</vt:lpstr>
      <vt:lpstr>Cooper Black</vt:lpstr>
      <vt:lpstr>Graphik</vt:lpstr>
      <vt:lpstr>Graphik Light</vt:lpstr>
      <vt:lpstr>Graphik Regular</vt:lpstr>
      <vt:lpstr>GT Sectra Fine</vt:lpstr>
      <vt:lpstr>GT Sectra Fine Rg</vt:lpstr>
      <vt:lpstr>Segoe WPC</vt:lpstr>
      <vt:lpstr>System Font</vt:lpstr>
      <vt:lpstr>1_Office Theme</vt:lpstr>
      <vt:lpstr>Intro to HTML &amp; CSS</vt:lpstr>
      <vt:lpstr>HTML – An Overview</vt:lpstr>
      <vt:lpstr>HTML – An Example</vt:lpstr>
      <vt:lpstr>HTML – An Example</vt:lpstr>
      <vt:lpstr>HTML – Some Key Elements</vt:lpstr>
      <vt:lpstr>HTML – Intro to Attributes</vt:lpstr>
      <vt:lpstr>CSS – Intro to Styling</vt:lpstr>
      <vt:lpstr>CSS – Intro to Styling</vt:lpstr>
      <vt:lpstr>CSS – Intro to Styling</vt:lpstr>
      <vt:lpstr>CSS – Intro to Styling</vt:lpstr>
      <vt:lpstr>CSS – Intro to Styling</vt:lpstr>
      <vt:lpstr>CSS – Intro to Styling</vt:lpstr>
      <vt:lpstr>CSS – Intro to Styling</vt:lpstr>
      <vt:lpstr>HTML &amp; CSS – Images</vt:lpstr>
      <vt:lpstr>HTML &amp; CSS – Navigation</vt:lpstr>
      <vt:lpstr>HTML &amp; CSS – Searching</vt:lpstr>
      <vt:lpstr>Intro to JavaScript</vt:lpstr>
      <vt:lpstr>JavaScript – An Overview</vt:lpstr>
      <vt:lpstr>JavaScript – An Overview</vt:lpstr>
      <vt:lpstr>JavaScript – An Overview</vt:lpstr>
      <vt:lpstr>JavaScript – Variables</vt:lpstr>
      <vt:lpstr>JavaScript – Data Types</vt:lpstr>
      <vt:lpstr>JavaScript – Logic</vt:lpstr>
      <vt:lpstr>JavaScript – Conditional Statements</vt:lpstr>
      <vt:lpstr>JavaScript – Loops</vt:lpstr>
      <vt:lpstr>JavaScript – Functions</vt:lpstr>
      <vt:lpstr>JavaScript – Arrays</vt:lpstr>
      <vt:lpstr>JavaScript – Objects</vt:lpstr>
      <vt:lpstr>JavaScript – Ordering instructions</vt:lpstr>
      <vt:lpstr>JavaScript – Ordering instructions</vt:lpstr>
      <vt:lpstr>JavaScript – A Worked Demo</vt:lpstr>
      <vt:lpstr>Intro to Python  GenAI</vt:lpstr>
      <vt:lpstr>Python – An Overview</vt:lpstr>
      <vt:lpstr>Python – An Overview</vt:lpstr>
      <vt:lpstr>Python –  Control flow:   If </vt:lpstr>
      <vt:lpstr>Python –  Control flow :  For </vt:lpstr>
      <vt:lpstr>Python –  Control flow : While </vt:lpstr>
      <vt:lpstr>Python –  Functions 🧠 </vt:lpstr>
      <vt:lpstr>Python –  Imports 🧠 </vt:lpstr>
      <vt:lpstr>Python –  Code Walkthrough: Quick Guide 📄</vt:lpstr>
      <vt:lpstr>Python –  Code Walkthrough: Read the Files  Quick Guide 📄</vt:lpstr>
      <vt:lpstr>Python –  Code Walkthrough: Read the Files  Quick Guide 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HTML &amp; CSS</dc:title>
  <dc:creator>Davis, Teyah</dc:creator>
  <cp:lastModifiedBy>Mahmood, Hafiz</cp:lastModifiedBy>
  <cp:revision>1</cp:revision>
  <dcterms:created xsi:type="dcterms:W3CDTF">2024-04-08T19:15:06Z</dcterms:created>
  <dcterms:modified xsi:type="dcterms:W3CDTF">2026-02-01T20:18:51Z</dcterms:modified>
</cp:coreProperties>
</file>