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84" r:id="rId2"/>
    <p:sldId id="26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4" r:id="rId12"/>
    <p:sldId id="295" r:id="rId13"/>
    <p:sldId id="308" r:id="rId14"/>
    <p:sldId id="296" r:id="rId15"/>
    <p:sldId id="297" r:id="rId16"/>
    <p:sldId id="300" r:id="rId17"/>
    <p:sldId id="298" r:id="rId18"/>
    <p:sldId id="299" r:id="rId19"/>
    <p:sldId id="301" r:id="rId20"/>
    <p:sldId id="302" r:id="rId21"/>
    <p:sldId id="303" r:id="rId22"/>
    <p:sldId id="304" r:id="rId23"/>
    <p:sldId id="310" r:id="rId24"/>
    <p:sldId id="311" r:id="rId25"/>
    <p:sldId id="312" r:id="rId26"/>
    <p:sldId id="309" r:id="rId27"/>
    <p:sldId id="313" r:id="rId28"/>
    <p:sldId id="314" r:id="rId29"/>
    <p:sldId id="305" r:id="rId30"/>
    <p:sldId id="306" r:id="rId31"/>
    <p:sldId id="307" r:id="rId32"/>
    <p:sldId id="315" r:id="rId33"/>
    <p:sldId id="316" r:id="rId34"/>
    <p:sldId id="317" r:id="rId35"/>
    <p:sldId id="318" r:id="rId36"/>
    <p:sldId id="319" r:id="rId37"/>
    <p:sldId id="320" r:id="rId38"/>
    <p:sldId id="321" r:id="rId39"/>
    <p:sldId id="322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E2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55135F-AA6A-4FE7-B5A3-AB52DE92266F}" v="25" dt="2026-02-01T17:18:27.2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3"/>
    <p:restoredTop sz="94719"/>
  </p:normalViewPr>
  <p:slideViewPr>
    <p:cSldViewPr snapToGrid="0">
      <p:cViewPr varScale="1">
        <p:scale>
          <a:sx n="97" d="100"/>
          <a:sy n="97" d="100"/>
        </p:scale>
        <p:origin x="12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hmood, Hafiz" userId="18238e4e-7e2b-4e05-bbf7-86d51a419a23" providerId="ADAL" clId="{BF66D714-9115-4DD6-B634-E048A95B02B0}"/>
    <pc:docChg chg="undo custSel addSld modSld">
      <pc:chgData name="Mahmood, Hafiz" userId="18238e4e-7e2b-4e05-bbf7-86d51a419a23" providerId="ADAL" clId="{BF66D714-9115-4DD6-B634-E048A95B02B0}" dt="2026-02-01T17:18:27.247" v="156"/>
      <pc:docMkLst>
        <pc:docMk/>
      </pc:docMkLst>
      <pc:sldChg chg="modSp add mod">
        <pc:chgData name="Mahmood, Hafiz" userId="18238e4e-7e2b-4e05-bbf7-86d51a419a23" providerId="ADAL" clId="{BF66D714-9115-4DD6-B634-E048A95B02B0}" dt="2026-02-01T16:59:21.897" v="21" actId="20577"/>
        <pc:sldMkLst>
          <pc:docMk/>
          <pc:sldMk cId="1295103802" sldId="315"/>
        </pc:sldMkLst>
        <pc:spChg chg="mod">
          <ac:chgData name="Mahmood, Hafiz" userId="18238e4e-7e2b-4e05-bbf7-86d51a419a23" providerId="ADAL" clId="{BF66D714-9115-4DD6-B634-E048A95B02B0}" dt="2026-02-01T16:59:21.897" v="21" actId="20577"/>
          <ac:spMkLst>
            <pc:docMk/>
            <pc:sldMk cId="1295103802" sldId="315"/>
            <ac:spMk id="4" creationId="{76B8EC32-B340-9A6C-6E68-D085A95116A2}"/>
          </ac:spMkLst>
        </pc:spChg>
      </pc:sldChg>
      <pc:sldChg chg="modSp add mod">
        <pc:chgData name="Mahmood, Hafiz" userId="18238e4e-7e2b-4e05-bbf7-86d51a419a23" providerId="ADAL" clId="{BF66D714-9115-4DD6-B634-E048A95B02B0}" dt="2026-02-01T17:03:38.026" v="48" actId="20577"/>
        <pc:sldMkLst>
          <pc:docMk/>
          <pc:sldMk cId="798424559" sldId="316"/>
        </pc:sldMkLst>
        <pc:spChg chg="mod">
          <ac:chgData name="Mahmood, Hafiz" userId="18238e4e-7e2b-4e05-bbf7-86d51a419a23" providerId="ADAL" clId="{BF66D714-9115-4DD6-B634-E048A95B02B0}" dt="2026-02-01T16:59:42.916" v="28" actId="20577"/>
          <ac:spMkLst>
            <pc:docMk/>
            <pc:sldMk cId="798424559" sldId="316"/>
            <ac:spMk id="2" creationId="{F22938FC-1F7F-0EB6-0777-B15857792D1A}"/>
          </ac:spMkLst>
        </pc:spChg>
        <pc:spChg chg="mod">
          <ac:chgData name="Mahmood, Hafiz" userId="18238e4e-7e2b-4e05-bbf7-86d51a419a23" providerId="ADAL" clId="{BF66D714-9115-4DD6-B634-E048A95B02B0}" dt="2026-02-01T17:03:38.026" v="48" actId="20577"/>
          <ac:spMkLst>
            <pc:docMk/>
            <pc:sldMk cId="798424559" sldId="316"/>
            <ac:spMk id="3" creationId="{550188D9-E5B2-613E-569E-CA2A0DFEEFBD}"/>
          </ac:spMkLst>
        </pc:spChg>
      </pc:sldChg>
      <pc:sldChg chg="addSp modSp add mod">
        <pc:chgData name="Mahmood, Hafiz" userId="18238e4e-7e2b-4e05-bbf7-86d51a419a23" providerId="ADAL" clId="{BF66D714-9115-4DD6-B634-E048A95B02B0}" dt="2026-02-01T17:07:03.671" v="75" actId="20577"/>
        <pc:sldMkLst>
          <pc:docMk/>
          <pc:sldMk cId="2959389765" sldId="317"/>
        </pc:sldMkLst>
        <pc:spChg chg="mod">
          <ac:chgData name="Mahmood, Hafiz" userId="18238e4e-7e2b-4e05-bbf7-86d51a419a23" providerId="ADAL" clId="{BF66D714-9115-4DD6-B634-E048A95B02B0}" dt="2026-02-01T17:07:03.671" v="75" actId="20577"/>
          <ac:spMkLst>
            <pc:docMk/>
            <pc:sldMk cId="2959389765" sldId="317"/>
            <ac:spMk id="3" creationId="{7D127007-0FC3-870A-5F1D-B3D5ED4810D8}"/>
          </ac:spMkLst>
        </pc:spChg>
        <pc:spChg chg="add mod">
          <ac:chgData name="Mahmood, Hafiz" userId="18238e4e-7e2b-4e05-bbf7-86d51a419a23" providerId="ADAL" clId="{BF66D714-9115-4DD6-B634-E048A95B02B0}" dt="2026-02-01T17:04:55.221" v="56"/>
          <ac:spMkLst>
            <pc:docMk/>
            <pc:sldMk cId="2959389765" sldId="317"/>
            <ac:spMk id="4" creationId="{29051BF0-9B1D-8A00-2C3D-6DD895D7D9E5}"/>
          </ac:spMkLst>
        </pc:spChg>
      </pc:sldChg>
      <pc:sldChg chg="modSp add mod">
        <pc:chgData name="Mahmood, Hafiz" userId="18238e4e-7e2b-4e05-bbf7-86d51a419a23" providerId="ADAL" clId="{BF66D714-9115-4DD6-B634-E048A95B02B0}" dt="2026-02-01T17:11:47.990" v="95" actId="12"/>
        <pc:sldMkLst>
          <pc:docMk/>
          <pc:sldMk cId="3501361424" sldId="318"/>
        </pc:sldMkLst>
        <pc:spChg chg="mod">
          <ac:chgData name="Mahmood, Hafiz" userId="18238e4e-7e2b-4e05-bbf7-86d51a419a23" providerId="ADAL" clId="{BF66D714-9115-4DD6-B634-E048A95B02B0}" dt="2026-02-01T17:11:10.960" v="79"/>
          <ac:spMkLst>
            <pc:docMk/>
            <pc:sldMk cId="3501361424" sldId="318"/>
            <ac:spMk id="2" creationId="{4D579833-AE80-AE4A-04B8-B12454EAC0F8}"/>
          </ac:spMkLst>
        </pc:spChg>
        <pc:spChg chg="mod">
          <ac:chgData name="Mahmood, Hafiz" userId="18238e4e-7e2b-4e05-bbf7-86d51a419a23" providerId="ADAL" clId="{BF66D714-9115-4DD6-B634-E048A95B02B0}" dt="2026-02-01T17:11:47.990" v="95" actId="12"/>
          <ac:spMkLst>
            <pc:docMk/>
            <pc:sldMk cId="3501361424" sldId="318"/>
            <ac:spMk id="3" creationId="{D78C4C23-64D7-C205-C57A-E31154902F1B}"/>
          </ac:spMkLst>
        </pc:spChg>
      </pc:sldChg>
      <pc:sldChg chg="modSp add mod">
        <pc:chgData name="Mahmood, Hafiz" userId="18238e4e-7e2b-4e05-bbf7-86d51a419a23" providerId="ADAL" clId="{BF66D714-9115-4DD6-B634-E048A95B02B0}" dt="2026-02-01T17:12:32.440" v="100" actId="12"/>
        <pc:sldMkLst>
          <pc:docMk/>
          <pc:sldMk cId="1355137874" sldId="319"/>
        </pc:sldMkLst>
        <pc:spChg chg="mod">
          <ac:chgData name="Mahmood, Hafiz" userId="18238e4e-7e2b-4e05-bbf7-86d51a419a23" providerId="ADAL" clId="{BF66D714-9115-4DD6-B634-E048A95B02B0}" dt="2026-02-01T17:12:32.440" v="100" actId="12"/>
          <ac:spMkLst>
            <pc:docMk/>
            <pc:sldMk cId="1355137874" sldId="319"/>
            <ac:spMk id="3" creationId="{FE82A38A-DCB2-84AB-B137-B0E37173DE01}"/>
          </ac:spMkLst>
        </pc:spChg>
      </pc:sldChg>
      <pc:sldChg chg="modSp add mod">
        <pc:chgData name="Mahmood, Hafiz" userId="18238e4e-7e2b-4e05-bbf7-86d51a419a23" providerId="ADAL" clId="{BF66D714-9115-4DD6-B634-E048A95B02B0}" dt="2026-02-01T17:13:07.208" v="113" actId="12"/>
        <pc:sldMkLst>
          <pc:docMk/>
          <pc:sldMk cId="1458757690" sldId="320"/>
        </pc:sldMkLst>
        <pc:spChg chg="mod">
          <ac:chgData name="Mahmood, Hafiz" userId="18238e4e-7e2b-4e05-bbf7-86d51a419a23" providerId="ADAL" clId="{BF66D714-9115-4DD6-B634-E048A95B02B0}" dt="2026-02-01T17:13:07.208" v="113" actId="12"/>
          <ac:spMkLst>
            <pc:docMk/>
            <pc:sldMk cId="1458757690" sldId="320"/>
            <ac:spMk id="3" creationId="{E49ED704-F07C-7B7E-62FD-562AB3D2C2DC}"/>
          </ac:spMkLst>
        </pc:spChg>
      </pc:sldChg>
      <pc:sldChg chg="addSp modSp add mod">
        <pc:chgData name="Mahmood, Hafiz" userId="18238e4e-7e2b-4e05-bbf7-86d51a419a23" providerId="ADAL" clId="{BF66D714-9115-4DD6-B634-E048A95B02B0}" dt="2026-02-01T17:15:33.145" v="138" actId="20577"/>
        <pc:sldMkLst>
          <pc:docMk/>
          <pc:sldMk cId="669017111" sldId="321"/>
        </pc:sldMkLst>
        <pc:spChg chg="mod">
          <ac:chgData name="Mahmood, Hafiz" userId="18238e4e-7e2b-4e05-bbf7-86d51a419a23" providerId="ADAL" clId="{BF66D714-9115-4DD6-B634-E048A95B02B0}" dt="2026-02-01T17:14:04.419" v="122"/>
          <ac:spMkLst>
            <pc:docMk/>
            <pc:sldMk cId="669017111" sldId="321"/>
            <ac:spMk id="2" creationId="{E5555CDD-3757-1231-C042-42627F41F5B5}"/>
          </ac:spMkLst>
        </pc:spChg>
        <pc:spChg chg="mod">
          <ac:chgData name="Mahmood, Hafiz" userId="18238e4e-7e2b-4e05-bbf7-86d51a419a23" providerId="ADAL" clId="{BF66D714-9115-4DD6-B634-E048A95B02B0}" dt="2026-02-01T17:13:34.349" v="117" actId="20577"/>
          <ac:spMkLst>
            <pc:docMk/>
            <pc:sldMk cId="669017111" sldId="321"/>
            <ac:spMk id="3" creationId="{BC7AC214-CFC8-2CA4-ABE3-A8D132CEB255}"/>
          </ac:spMkLst>
        </pc:spChg>
        <pc:spChg chg="add mod">
          <ac:chgData name="Mahmood, Hafiz" userId="18238e4e-7e2b-4e05-bbf7-86d51a419a23" providerId="ADAL" clId="{BF66D714-9115-4DD6-B634-E048A95B02B0}" dt="2026-02-01T17:15:33.145" v="138" actId="20577"/>
          <ac:spMkLst>
            <pc:docMk/>
            <pc:sldMk cId="669017111" sldId="321"/>
            <ac:spMk id="4" creationId="{1A2E6F75-69D1-38E4-3DDD-BEC7BE7FE74E}"/>
          </ac:spMkLst>
        </pc:spChg>
      </pc:sldChg>
      <pc:sldChg chg="modSp add mod">
        <pc:chgData name="Mahmood, Hafiz" userId="18238e4e-7e2b-4e05-bbf7-86d51a419a23" providerId="ADAL" clId="{BF66D714-9115-4DD6-B634-E048A95B02B0}" dt="2026-02-01T17:18:27.247" v="156"/>
        <pc:sldMkLst>
          <pc:docMk/>
          <pc:sldMk cId="1834763470" sldId="322"/>
        </pc:sldMkLst>
        <pc:spChg chg="mod">
          <ac:chgData name="Mahmood, Hafiz" userId="18238e4e-7e2b-4e05-bbf7-86d51a419a23" providerId="ADAL" clId="{BF66D714-9115-4DD6-B634-E048A95B02B0}" dt="2026-02-01T17:18:17.654" v="155" actId="20577"/>
          <ac:spMkLst>
            <pc:docMk/>
            <pc:sldMk cId="1834763470" sldId="322"/>
            <ac:spMk id="2" creationId="{AA314D9D-6209-62FB-2A1A-3B9B28311732}"/>
          </ac:spMkLst>
        </pc:spChg>
        <pc:spChg chg="mod">
          <ac:chgData name="Mahmood, Hafiz" userId="18238e4e-7e2b-4e05-bbf7-86d51a419a23" providerId="ADAL" clId="{BF66D714-9115-4DD6-B634-E048A95B02B0}" dt="2026-02-01T17:18:27.247" v="156"/>
          <ac:spMkLst>
            <pc:docMk/>
            <pc:sldMk cId="1834763470" sldId="322"/>
            <ac:spMk id="3" creationId="{D61BA5FF-8964-B150-AD28-903624461028}"/>
          </ac:spMkLst>
        </pc:spChg>
        <pc:spChg chg="mod">
          <ac:chgData name="Mahmood, Hafiz" userId="18238e4e-7e2b-4e05-bbf7-86d51a419a23" providerId="ADAL" clId="{BF66D714-9115-4DD6-B634-E048A95B02B0}" dt="2026-02-01T17:17:25.029" v="145" actId="20577"/>
          <ac:spMkLst>
            <pc:docMk/>
            <pc:sldMk cId="1834763470" sldId="322"/>
            <ac:spMk id="4" creationId="{DDCFADCE-98BF-A031-9FA2-B20AA217480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7DB7EA-1890-8D4E-8AF9-31CE9491B1F8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FC474C-FCBA-BD4A-B151-572BFB5FF5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492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24E6933-E3E0-4942-A81F-60167C58F17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375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358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113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2636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010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9070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2501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253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3462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46950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709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2107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94119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3928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6092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4335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24E6933-E3E0-4942-A81F-60167C58F17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40009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5224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635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2171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2501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1532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0519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6200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01480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043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032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8866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59253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9590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35920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E3530-6794-CC59-3167-0FDBAC79C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974A6-A8C4-1397-3ADB-2632F6F7E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2F9EE-EA8A-4C2F-D470-764944E6F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5064F-75A3-4AA8-3D43-F6D44736C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24E6933-E3E0-4942-A81F-60167C58F17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15370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3CEE-057C-3981-A081-0946E7BC0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441BAE-A19C-0A13-CBF0-58A8841E3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878D-87B4-E348-46B4-209C13497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C57B3-44F5-0CAB-755F-9EA4E6341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24030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59029-D146-BA45-B48A-3EB1A0B62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9BDD3-1EEF-98A3-4CB0-5A4A11A57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55103-19A1-C916-4D00-FB622F760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C1B3B-2F64-B8CF-F3A5-FD46B0D4C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8616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A6B16-2B75-4AC6-A6B7-7BB0B1C11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D8962-CDA4-A72E-8379-A72542108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8F057A-3497-3788-632E-5EDEEA0264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B6CFA-DDDB-274C-0D51-9446F66F66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27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ED1B9-DFD2-8554-F7F6-711DAE88A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7407C-56AB-873A-83F9-57623A1A2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67DFB-3F8C-6311-D1BE-832E7BBA9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605EB-18C2-7717-19B3-EA77FB09F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9546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07FC-D131-58AA-F317-F3CF3C5C3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751E08-5742-458B-1E14-E5BFB0E54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D4247-83EB-8976-891A-D6BFF6756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8A3BB-BE2F-8752-2364-888B91C25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8850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1E2-58AA-6CBA-7A0E-D1AACC85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6D35E-0A9C-C44E-B9C6-B7B4B0C0B1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1C89A-7A0F-F092-0970-90DF75436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21982-3CA6-E278-6B88-6FA02A66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0539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8DF2A-AE8D-A95C-391B-D042CD2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93A678-042A-4B6F-6B18-2C2FFA38A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52E91-7CB7-579E-A587-15DF5972B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62AE9-C80F-CE0F-94D8-D43A012E93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69876F-3BCE-5D4F-8061-3EC47FF884B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590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12358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Sunday, February 1, 2026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9804829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alutation-GTS Keyli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0F9C7A-78BC-46F0-AFA8-4D172477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2133"/>
            <a:ext cx="12191999" cy="685586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478A323-60BF-4C40-B967-88365A7504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0674" y="1576573"/>
            <a:ext cx="5365250" cy="2221454"/>
          </a:xfrm>
        </p:spPr>
        <p:txBody>
          <a:bodyPr anchor="ctr"/>
          <a:lstStyle>
            <a:lvl1pPr algn="l">
              <a:defRPr sz="5399" spc="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B90A3-CB07-40D4-BF53-E01DB4A5BB21}"/>
              </a:ext>
            </a:extLst>
          </p:cNvPr>
          <p:cNvSpPr txBox="1"/>
          <p:nvPr userDrawn="1"/>
        </p:nvSpPr>
        <p:spPr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463">
              <a:spcAft>
                <a:spcPts val="1200"/>
              </a:spcAft>
            </a:pPr>
            <a:endParaRPr lang="en-US" sz="1800" noProof="0">
              <a:latin typeface="Graphik Regular" panose="020B0503030202060203" pitchFamily="34" charset="-18"/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8E976603-9D47-42A8-9E73-F7EB46FFB6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595457" y="6152069"/>
            <a:ext cx="3102015" cy="305415"/>
          </a:xfrm>
        </p:spPr>
        <p:txBody>
          <a:bodyPr/>
          <a:lstStyle>
            <a:lvl1pPr marL="0" indent="0" algn="r" defTabSz="913851" rtl="0" eaLnBrk="1" latinLnBrk="0" hangingPunct="1">
              <a:spcAft>
                <a:spcPts val="0"/>
              </a:spcAft>
              <a:buNone/>
              <a:defRPr lang="en-US" sz="1399" b="0" kern="1200" dirty="0" smtClean="0">
                <a:solidFill>
                  <a:schemeClr val="tx1"/>
                </a:solidFill>
                <a:latin typeface="Graphik Light" panose="020B0403030202060203" pitchFamily="34" charset="0"/>
                <a:ea typeface="+mn-ea"/>
                <a:cs typeface="+mn-cs"/>
              </a:defRPr>
            </a:lvl1pPr>
            <a:lvl2pPr marL="0" algn="l" defTabSz="913851" rtl="0" eaLnBrk="1" latinLnBrk="0" hangingPunct="1">
              <a:spcAft>
                <a:spcPts val="0"/>
              </a:spcAft>
              <a:defRPr lang="en-US" sz="1399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3851" rtl="0" eaLnBrk="1" latinLnBrk="0" hangingPunct="1">
              <a:spcAft>
                <a:spcPts val="0"/>
              </a:spcAft>
              <a:defRPr lang="en-US" sz="1399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3851" rtl="0" eaLnBrk="1" latinLnBrk="0" hangingPunct="1">
              <a:spcAft>
                <a:spcPts val="0"/>
              </a:spcAft>
              <a:defRPr lang="en-US" sz="1399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3851" rtl="0" eaLnBrk="1" latinLnBrk="0" hangingPunct="1">
              <a:spcAft>
                <a:spcPts val="0"/>
              </a:spcAft>
              <a:defRPr lang="en-US" sz="1399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| Presenter 14pt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524F9A86-F71F-4503-8D4E-55E36C881E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83" y="4334955"/>
            <a:ext cx="3980825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399" b="0" i="0" kern="1200" spc="0" dirty="0">
                <a:solidFill>
                  <a:schemeClr val="tx1"/>
                </a:solidFill>
                <a:latin typeface="GT Sectra Fine Rg" panose="00000500000000000000" pitchFamily="50" charset="0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399" dirty="0" smtClean="0">
                <a:solidFill>
                  <a:srgbClr val="E6DCFF"/>
                </a:solidFill>
                <a:latin typeface="GT Sectra Fine Rg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399" dirty="0" smtClean="0">
                <a:solidFill>
                  <a:srgbClr val="E6DCFF"/>
                </a:solidFill>
                <a:latin typeface="GT Sectra Fine Rg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399" dirty="0" smtClean="0">
                <a:solidFill>
                  <a:srgbClr val="E6DCFF"/>
                </a:solidFill>
                <a:latin typeface="GT Sectra Fine Rg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399" dirty="0">
                <a:solidFill>
                  <a:srgbClr val="E6DCFF"/>
                </a:solidFill>
                <a:latin typeface="GT Sectra Fine Rg" panose="00000500000000000000" pitchFamily="50" charset="0"/>
              </a:defRPr>
            </a:lvl5pPr>
          </a:lstStyle>
          <a:p>
            <a:pPr marL="0" lvl="0" indent="0" algn="l" defTabSz="91385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Place subtitle here in GT Sectra Fine </a:t>
            </a:r>
            <a:r>
              <a:rPr lang="en-US" err="1"/>
              <a:t>Rg</a:t>
            </a:r>
            <a:r>
              <a:rPr lang="en-US"/>
              <a:t> 24pt</a:t>
            </a:r>
          </a:p>
        </p:txBody>
      </p:sp>
      <p:sp>
        <p:nvSpPr>
          <p:cNvPr id="12" name="Footer Placeholder 2">
            <a:extLst>
              <a:ext uri="{FF2B5EF4-FFF2-40B4-BE49-F238E27FC236}">
                <a16:creationId xmlns:a16="http://schemas.microsoft.com/office/drawing/2014/main" id="{1B9E8373-A098-46E5-BF34-8989727DF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183" y="6452958"/>
            <a:ext cx="3176441" cy="132492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pPr algn="l"/>
            <a:r>
              <a:rPr lang="en-US">
                <a:latin typeface="Graphik Regular" panose="020B0503030202060203" pitchFamily="34" charset="-18"/>
              </a:rPr>
              <a:t>Copyright © 202</a:t>
            </a:r>
            <a:r>
              <a:rPr lang="pl-PL">
                <a:latin typeface="Graphik Regular" panose="020B0503030202060203" pitchFamily="34" charset="-18"/>
              </a:rPr>
              <a:t>2</a:t>
            </a:r>
            <a:r>
              <a:rPr lang="en-US">
                <a:latin typeface="Graphik Regular" panose="020B0503030202060203" pitchFamily="34" charset="-18"/>
              </a:rPr>
              <a:t>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668738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C35E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Sunday, February 1, 2026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769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tags/default.asp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C9125F-A107-DDA9-93A7-4B6FD93EA8D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546A17-0A22-AFDC-A143-E3CD51A349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>
                <a:latin typeface="+mj-lt"/>
              </a:rPr>
              <a:t>Accenture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0C3520-E8FA-8FE3-C0E4-39F2C68C4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1" y="1456376"/>
            <a:ext cx="5284075" cy="2779294"/>
          </a:xfrm>
        </p:spPr>
        <p:txBody>
          <a:bodyPr/>
          <a:lstStyle/>
          <a:p>
            <a:r>
              <a:rPr lang="en-GB" sz="6600" dirty="0"/>
              <a:t>Intro to HTML &amp;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A8A062-692B-3726-4110-460DF274832D}"/>
              </a:ext>
            </a:extLst>
          </p:cNvPr>
          <p:cNvSpPr txBox="1"/>
          <p:nvPr/>
        </p:nvSpPr>
        <p:spPr>
          <a:xfrm>
            <a:off x="3600450" y="-2857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1634A-172B-068B-1A70-44EECD6DA64F}"/>
              </a:ext>
            </a:extLst>
          </p:cNvPr>
          <p:cNvSpPr txBox="1"/>
          <p:nvPr/>
        </p:nvSpPr>
        <p:spPr>
          <a:xfrm>
            <a:off x="914400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BB76B8-F02E-DDD5-8DC2-DBE6CCD6B4D3}"/>
              </a:ext>
            </a:extLst>
          </p:cNvPr>
          <p:cNvSpPr txBox="1"/>
          <p:nvPr/>
        </p:nvSpPr>
        <p:spPr>
          <a:xfrm>
            <a:off x="1177159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69773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Hyper Text Markup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HTML is the </a:t>
            </a:r>
            <a:r>
              <a:rPr lang="en-GB" sz="2800" b="1" dirty="0"/>
              <a:t>language</a:t>
            </a:r>
            <a:r>
              <a:rPr lang="en-GB" sz="2800" dirty="0"/>
              <a:t> we use for creating </a:t>
            </a:r>
            <a:r>
              <a:rPr lang="en-GB" sz="2800" b="1" dirty="0"/>
              <a:t>web pages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It’s broken down into </a:t>
            </a:r>
            <a:r>
              <a:rPr lang="en-GB" sz="2800" b="1" dirty="0"/>
              <a:t>elements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We can identify elements by </a:t>
            </a:r>
            <a:r>
              <a:rPr lang="en-GB" sz="2800" b="1" dirty="0"/>
              <a:t>&lt;&gt;</a:t>
            </a:r>
            <a:r>
              <a:rPr lang="en-GB" sz="2800" dirty="0"/>
              <a:t> e.g. &lt;body&gt;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HTML has </a:t>
            </a:r>
            <a:r>
              <a:rPr lang="en-GB" sz="2800" b="1" dirty="0"/>
              <a:t>syntax</a:t>
            </a:r>
            <a:r>
              <a:rPr lang="en-GB" sz="2800" dirty="0"/>
              <a:t> in the same way that English has </a:t>
            </a:r>
            <a:r>
              <a:rPr lang="en-GB" sz="2800" b="1" dirty="0"/>
              <a:t>grammar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The elements in HTML are like </a:t>
            </a:r>
            <a:r>
              <a:rPr lang="en-GB" sz="2800" b="1" dirty="0"/>
              <a:t>instructions</a:t>
            </a:r>
            <a:r>
              <a:rPr lang="en-GB" sz="2800" dirty="0"/>
              <a:t> – they tell the web browser how to display the content provide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HTML is </a:t>
            </a:r>
            <a:r>
              <a:rPr lang="en-GB" sz="2800" b="1" dirty="0"/>
              <a:t>not</a:t>
            </a:r>
            <a:r>
              <a:rPr lang="en-GB" sz="2800" dirty="0"/>
              <a:t> case-sensitive; however, it is best practice to stick to lowercase</a:t>
            </a:r>
          </a:p>
        </p:txBody>
      </p:sp>
    </p:spTree>
    <p:extLst>
      <p:ext uri="{BB962C8B-B14F-4D97-AF65-F5344CB8AC3E}">
        <p14:creationId xmlns:p14="http://schemas.microsoft.com/office/powerpoint/2010/main" val="270294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</a:t>
            </a:r>
            <a:r>
              <a:rPr lang="en-GB" sz="3200" dirty="0"/>
              <a:t>– An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!DOCTYPE</a:t>
            </a:r>
            <a:r>
              <a:rPr lang="en-GB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html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html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lang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="</a:t>
            </a:r>
            <a:r>
              <a:rPr lang="en-GB" sz="2400" b="0" i="0" dirty="0" err="1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en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"&gt;</a:t>
            </a: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Page Title – what you see in the tab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/title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/head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endParaRPr lang="en-GB" sz="2400" dirty="0"/>
          </a:p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			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Heading 1 – the biggest, boldest heading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/h1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normal text content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/body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/html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972569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</a:t>
            </a:r>
            <a:r>
              <a:rPr lang="en-GB" sz="3200" dirty="0"/>
              <a:t>– An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!DOCTYPE</a:t>
            </a:r>
            <a:r>
              <a:rPr lang="en-GB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html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Page Title – what you see in the tab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/title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/head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endParaRPr lang="en-GB" sz="2400" dirty="0"/>
          </a:p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			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h1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Heading 1 – the biggest, boldest heading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/h1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dirty="0"/>
              <a:t>			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normal text content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br>
              <a:rPr lang="en-GB" sz="2400" dirty="0"/>
            </a:br>
            <a:r>
              <a:rPr lang="en-GB" sz="2400" dirty="0"/>
              <a:t>			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/body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400" dirty="0"/>
            </a:b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/html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2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1804434-1A4D-79F5-06A4-6492729E5AD8}"/>
              </a:ext>
            </a:extLst>
          </p:cNvPr>
          <p:cNvCxnSpPr>
            <a:cxnSpLocks/>
          </p:cNvCxnSpPr>
          <p:nvPr/>
        </p:nvCxnSpPr>
        <p:spPr>
          <a:xfrm>
            <a:off x="987972" y="2175641"/>
            <a:ext cx="0" cy="777766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EBCF7FE-C7B3-CC69-3418-0622F31BA0DC}"/>
              </a:ext>
            </a:extLst>
          </p:cNvPr>
          <p:cNvCxnSpPr>
            <a:cxnSpLocks/>
          </p:cNvCxnSpPr>
          <p:nvPr/>
        </p:nvCxnSpPr>
        <p:spPr>
          <a:xfrm>
            <a:off x="987972" y="3773214"/>
            <a:ext cx="0" cy="187084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785B0C-4D26-5141-5319-1B9C93897B62}"/>
              </a:ext>
            </a:extLst>
          </p:cNvPr>
          <p:cNvCxnSpPr>
            <a:cxnSpLocks/>
          </p:cNvCxnSpPr>
          <p:nvPr/>
        </p:nvCxnSpPr>
        <p:spPr>
          <a:xfrm>
            <a:off x="289035" y="1786759"/>
            <a:ext cx="0" cy="4256689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5627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</a:t>
            </a:r>
            <a:r>
              <a:rPr lang="en-GB" sz="3200" dirty="0"/>
              <a:t>– Some Key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sz="1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18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example</a:t>
            </a:r>
            <a:r>
              <a:rPr lang="en-GB" sz="1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GB" sz="18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 Content goes here... </a:t>
            </a:r>
            <a:r>
              <a:rPr lang="en-GB" sz="1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18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/example</a:t>
            </a:r>
            <a:r>
              <a:rPr lang="en-GB" sz="1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endParaRPr lang="en-GB" sz="1800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title (this is what you see in the tab)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h1, h2, h3, h4, h5, h6 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(these get progressively smaller)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p (these are paragraph tags, for normal written content)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a (this is usually what you see followed by </a:t>
            </a:r>
            <a:r>
              <a:rPr lang="en-GB" sz="1800" b="1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href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for hyperlinks)</a:t>
            </a:r>
          </a:p>
          <a:p>
            <a:pPr marL="342900" indent="-342900">
              <a:buFontTx/>
              <a:buChar char="-"/>
            </a:pPr>
            <a:r>
              <a:rPr lang="en-GB" sz="1800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img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(this is an image, usually followed by </a:t>
            </a:r>
            <a:r>
              <a:rPr lang="en-GB" sz="1800" b="1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src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for source)</a:t>
            </a:r>
            <a:endParaRPr lang="en-GB" sz="1800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pPr marL="342900" indent="-342900">
              <a:buFontTx/>
              <a:buChar char="-"/>
            </a:pPr>
            <a:r>
              <a:rPr lang="en-GB" sz="1800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br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(this is for line break, and it creates a new line in content)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div (this is to help divide content into blocks)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button (this is for clickable buttons)</a:t>
            </a:r>
          </a:p>
          <a:p>
            <a:pPr marL="342900" indent="-342900">
              <a:buFontTx/>
              <a:buChar char="-"/>
            </a:pP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form (this is for forms for users to submit input)</a:t>
            </a:r>
          </a:p>
          <a:p>
            <a:pPr marL="342900" indent="-342900">
              <a:buFontTx/>
              <a:buChar char="-"/>
            </a:pPr>
            <a:r>
              <a:rPr lang="en-GB" sz="1800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ul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/ </a:t>
            </a:r>
            <a:r>
              <a:rPr lang="en-GB" sz="1800" dirty="0" err="1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ol</a:t>
            </a:r>
            <a:r>
              <a:rPr lang="en-GB" sz="1800" dirty="0"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(followed by li – this is for unordered (bullet) and ordered (numbered) lists)</a:t>
            </a:r>
          </a:p>
        </p:txBody>
      </p:sp>
    </p:spTree>
    <p:extLst>
      <p:ext uri="{BB962C8B-B14F-4D97-AF65-F5344CB8AC3E}">
        <p14:creationId xmlns:p14="http://schemas.microsoft.com/office/powerpoint/2010/main" val="4083013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</a:t>
            </a:r>
            <a:r>
              <a:rPr lang="en-GB" sz="3200" dirty="0"/>
              <a:t>– Intro to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sz="2400" b="0" i="0" dirty="0">
                <a:effectLst/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</a:rPr>
              <a:t>There are a lot of other elements that we can use, but these were the most common and useful.</a:t>
            </a:r>
          </a:p>
          <a:p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More tags can be found at:</a:t>
            </a:r>
          </a:p>
          <a:p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		&lt;a </a:t>
            </a:r>
            <a:r>
              <a:rPr lang="en-GB" dirty="0" err="1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href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=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  <a:hlinkClick r:id="rId3"/>
              </a:rPr>
              <a:t>“https://www.w3schools.com/tags/default.asp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”&gt; this link &lt;/a&gt;</a:t>
            </a:r>
          </a:p>
          <a:p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HTML &lt;elements&gt; can have attributes – these help to describe the element in more detail or provide context for the web browser to understand</a:t>
            </a:r>
          </a:p>
          <a:p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For an image, these attributes might include:</a:t>
            </a:r>
          </a:p>
          <a:p>
            <a:pPr marL="800100" lvl="2" indent="-342900">
              <a:buFontTx/>
              <a:buChar char="-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Source</a:t>
            </a:r>
          </a:p>
          <a:p>
            <a:pPr marL="800100" lvl="2" indent="-342900">
              <a:buFontTx/>
              <a:buChar char="-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Height</a:t>
            </a:r>
          </a:p>
          <a:p>
            <a:pPr marL="800100" lvl="2" indent="-342900">
              <a:buFontTx/>
              <a:buChar char="-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Width</a:t>
            </a:r>
          </a:p>
          <a:p>
            <a:pPr marL="800100" lvl="2" indent="-342900">
              <a:buFontTx/>
              <a:buChar char="-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Alt text</a:t>
            </a:r>
          </a:p>
        </p:txBody>
      </p:sp>
    </p:spTree>
    <p:extLst>
      <p:ext uri="{BB962C8B-B14F-4D97-AF65-F5344CB8AC3E}">
        <p14:creationId xmlns:p14="http://schemas.microsoft.com/office/powerpoint/2010/main" val="1044552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So far, we can build an entire website with everything we know about HTML, but it would look really boring.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By default, the background is #FFFFFF and text is #000000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Everything is left aligned and the default font is Times New Roman, and 16pt for paragraph text.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highlight>
                <a:srgbClr val="FFFFFF"/>
              </a:highlight>
              <a:latin typeface="Graphik" panose="020B0503030202060203" pitchFamily="34" charset="77"/>
              <a:cs typeface="Consolas" panose="020B0609020204030204" pitchFamily="49" charset="0"/>
              <a:sym typeface="Wingdings" pitchFamily="2" charset="2"/>
            </a:endParaRPr>
          </a:p>
          <a:p>
            <a:pPr algn="ctr"/>
            <a:r>
              <a:rPr lang="en-GB" sz="3600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When we want </a:t>
            </a:r>
            <a:r>
              <a:rPr lang="en-GB" sz="3600" spc="300" dirty="0">
                <a:solidFill>
                  <a:srgbClr val="FF000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c</a:t>
            </a:r>
            <a:r>
              <a:rPr lang="en-GB" sz="3600" spc="300" dirty="0">
                <a:solidFill>
                  <a:srgbClr val="FFC00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o</a:t>
            </a:r>
            <a:r>
              <a:rPr lang="en-GB" sz="3600" spc="300" dirty="0">
                <a:solidFill>
                  <a:srgbClr val="E1E218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l</a:t>
            </a:r>
            <a:r>
              <a:rPr lang="en-GB" sz="3600" spc="300" dirty="0">
                <a:solidFill>
                  <a:srgbClr val="00B05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o</a:t>
            </a:r>
            <a:r>
              <a:rPr lang="en-GB" sz="3600" spc="300" dirty="0">
                <a:solidFill>
                  <a:srgbClr val="00B0F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u</a:t>
            </a:r>
            <a:r>
              <a:rPr lang="en-GB" sz="3600" spc="300" dirty="0">
                <a:solidFill>
                  <a:srgbClr val="00206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r</a:t>
            </a:r>
            <a:r>
              <a:rPr lang="en-GB" sz="3600" spc="300" dirty="0">
                <a:solidFill>
                  <a:srgbClr val="7030A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s</a:t>
            </a:r>
            <a:r>
              <a:rPr lang="en-GB" sz="3600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,</a:t>
            </a:r>
            <a:r>
              <a:rPr lang="en-GB" sz="3600" spc="300" dirty="0">
                <a:solidFill>
                  <a:srgbClr val="7030A0"/>
                </a:solidFill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 </a:t>
            </a:r>
            <a:r>
              <a:rPr lang="en-GB" sz="3600" spc="300" dirty="0">
                <a:highlight>
                  <a:srgbClr val="FFFFFF"/>
                </a:highlight>
                <a:latin typeface="Cooper Black" panose="0208090404030B020404" pitchFamily="18" charset="77"/>
                <a:ea typeface="Brush Script MT" panose="03060802040406070304" pitchFamily="66" charset="-122"/>
                <a:cs typeface="Brush Script MT" panose="03060802040406070304" pitchFamily="66" charset="-122"/>
                <a:sym typeface="Wingdings" pitchFamily="2" charset="2"/>
              </a:rPr>
              <a:t>fonts</a:t>
            </a:r>
            <a:r>
              <a:rPr lang="en-GB" sz="3600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 and </a:t>
            </a:r>
            <a:r>
              <a:rPr lang="en-GB" sz="3600" b="1" i="1" u="sng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emphasis</a:t>
            </a:r>
            <a:r>
              <a:rPr lang="en-GB" sz="3600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, we need to implement styling, which is where </a:t>
            </a:r>
            <a:r>
              <a:rPr lang="en-GB" sz="3600" b="1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CSS</a:t>
            </a:r>
            <a:r>
              <a:rPr lang="en-GB" sz="3600" spc="3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 comes in.</a:t>
            </a:r>
            <a:endParaRPr lang="en-GB" sz="3600" b="1" i="1" u="sng" spc="300" dirty="0">
              <a:highlight>
                <a:srgbClr val="FFFFFF"/>
              </a:highlight>
              <a:latin typeface="Graphik" panose="020B0503030202060203" pitchFamily="34" charset="77"/>
              <a:cs typeface="Consolas" panose="020B0609020204030204" pitchFamily="49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40227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Cascading Style Sheets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Cascading refers to how styles applied to parent elements automatically cascade and apply to child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There are 3 key parts to CSS – elements, classes and id’s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There is a hierarchy of the order in which instructions must be followed, rules for what style overwrites the other if both are relevant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We can use 3 types of styling: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Inline, internal and </a:t>
            </a:r>
            <a:r>
              <a:rPr lang="en-GB" sz="2800" b="1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external </a:t>
            </a:r>
            <a:r>
              <a:rPr lang="en-GB" sz="2800" dirty="0">
                <a:highlight>
                  <a:srgbClr val="FFFFFF"/>
                </a:highlight>
                <a:latin typeface="Graphik" panose="020B0503030202060203" pitchFamily="34" charset="77"/>
                <a:cs typeface="Consolas" panose="020B0609020204030204" pitchFamily="49" charset="0"/>
                <a:sym typeface="Wingdings" pitchFamily="2" charset="2"/>
              </a:rPr>
              <a:t>– we will mostly be using external</a:t>
            </a:r>
          </a:p>
        </p:txBody>
      </p:sp>
    </p:spTree>
    <p:extLst>
      <p:ext uri="{BB962C8B-B14F-4D97-AF65-F5344CB8AC3E}">
        <p14:creationId xmlns:p14="http://schemas.microsoft.com/office/powerpoint/2010/main" val="921095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Inline - by using the style 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attribute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 inside HTML elements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Internal - by using a 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style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element in the 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section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External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 - by using a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link</a:t>
            </a:r>
            <a:r>
              <a:rPr lang="en-GB" i="0" dirty="0">
                <a:solidFill>
                  <a:srgbClr val="0070C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&gt; 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element to link to an external CSS file</a:t>
            </a:r>
            <a:endParaRPr lang="en-GB" dirty="0">
              <a:solidFill>
                <a:srgbClr val="000000"/>
              </a:solidFill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This is how we link a CSS stylesheet to our webpage:</a:t>
            </a:r>
          </a:p>
          <a:p>
            <a:pPr algn="l"/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!DOCTYPE</a:t>
            </a:r>
            <a:r>
              <a:rPr lang="en-GB" sz="2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html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000" dirty="0"/>
            </a:b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html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000" dirty="0"/>
            </a:br>
            <a:r>
              <a:rPr lang="en-GB" sz="2000" dirty="0"/>
              <a:t>			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000" dirty="0"/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			</a:t>
            </a:r>
            <a:r>
              <a:rPr lang="en-GB" sz="20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link</a:t>
            </a:r>
            <a:r>
              <a:rPr lang="en-GB" sz="20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000" b="1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rel</a:t>
            </a:r>
            <a:r>
              <a:rPr lang="en-GB" sz="20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="stylesheet"</a:t>
            </a:r>
            <a:r>
              <a:rPr lang="en-GB" sz="20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000" b="1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GB" sz="20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="</a:t>
            </a:r>
            <a:r>
              <a:rPr lang="en-GB" sz="2000" b="1" i="0" dirty="0" err="1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styles.css</a:t>
            </a:r>
            <a:r>
              <a:rPr lang="en-GB" sz="20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"&gt;</a:t>
            </a:r>
            <a:br>
              <a:rPr lang="en-GB" sz="2000" dirty="0"/>
            </a:br>
            <a:r>
              <a:rPr lang="en-GB" sz="2000" dirty="0"/>
              <a:t>			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/head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 algn="l"/>
            <a:br>
              <a:rPr lang="en-GB" sz="2000" dirty="0"/>
            </a:br>
            <a:r>
              <a:rPr lang="en-GB" sz="2000" dirty="0"/>
              <a:t>			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000" dirty="0"/>
            </a:br>
            <a:r>
              <a:rPr lang="en-GB" sz="2000" dirty="0"/>
              <a:t>						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&lt;&gt;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  <a:br>
              <a:rPr lang="en-GB" sz="2000" dirty="0"/>
            </a:br>
            <a:r>
              <a:rPr lang="en-GB" sz="2000" dirty="0"/>
              <a:t>			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/body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GB" sz="2000" dirty="0"/>
            </a:b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/html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240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63719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We use external styling so that we can change how lots of things look quickly and easily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Style sheets provide a space for instructions on how each element should appear </a:t>
            </a:r>
            <a:endParaRPr lang="en-GB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endParaRPr lang="en-GB" sz="2400" dirty="0">
              <a:solidFill>
                <a:srgbClr val="000000"/>
              </a:solidFill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body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background-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green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br>
              <a:rPr lang="en-GB" sz="2000" dirty="0"/>
            </a:br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h1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blue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br>
              <a:rPr lang="en-GB" sz="2000" dirty="0"/>
            </a:br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red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en-GB" sz="240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5390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We can apply lots of different styles to one single element</a:t>
            </a:r>
            <a:endParaRPr lang="en-GB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algn="l"/>
            <a:br>
              <a:rPr lang="en-GB" sz="2400" dirty="0"/>
            </a:br>
            <a:r>
              <a:rPr lang="en-GB" sz="24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 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</a:t>
            </a:r>
            <a:r>
              <a:rPr lang="en-GB" sz="24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red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400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font-family</a:t>
            </a: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Arial</a:t>
            </a: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font-size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20px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border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2px solid pink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padding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30px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margin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50px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endParaRPr lang="en-GB" sz="2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  <p:pic>
        <p:nvPicPr>
          <p:cNvPr id="5" name="Picture 4" descr="A diagram of a rectangular structure&#10;&#10;Description automatically generated">
            <a:extLst>
              <a:ext uri="{FF2B5EF4-FFF2-40B4-BE49-F238E27FC236}">
                <a16:creationId xmlns:a16="http://schemas.microsoft.com/office/drawing/2014/main" id="{726D8D01-F3A2-5EFD-EFDE-81BFC601D6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5" t="9602" r="7415" b="11375"/>
          <a:stretch/>
        </p:blipFill>
        <p:spPr>
          <a:xfrm>
            <a:off x="5892800" y="2316226"/>
            <a:ext cx="4762500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745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We can also split elements up for styling by using the 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 attribute</a:t>
            </a:r>
          </a:p>
          <a:p>
            <a:pPr algn="l"/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GB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=“important”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important text content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GB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=“normal”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normal text content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endParaRPr lang="en-GB" dirty="0">
              <a:solidFill>
                <a:srgbClr val="0000CD"/>
              </a:solidFill>
              <a:latin typeface="Consolas" panose="020B0609020204030204" pitchFamily="49" charset="0"/>
            </a:endParaRPr>
          </a:p>
          <a:p>
            <a:pPr algn="l"/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.important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red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font-size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sz="20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20px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endParaRPr lang="en-GB" sz="20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algn="l"/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.normal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black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font-size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16</a:t>
            </a:r>
            <a:r>
              <a:rPr lang="en-GB" sz="20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px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endParaRPr lang="en-GB" sz="20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sz="2000" b="0" i="0" dirty="0">
              <a:solidFill>
                <a:srgbClr val="0000CD"/>
              </a:solidFill>
              <a:effectLst/>
              <a:latin typeface="Consolas" panose="020B0609020204030204" pitchFamily="49" charset="0"/>
            </a:endParaRPr>
          </a:p>
          <a:p>
            <a:endParaRPr lang="en-GB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endParaRPr lang="en-GB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7177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CSS </a:t>
            </a:r>
            <a:r>
              <a:rPr lang="en-GB" sz="3200" dirty="0"/>
              <a:t>– Intro to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We can also split elements up for styling by using the 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 attribute</a:t>
            </a:r>
          </a:p>
          <a:p>
            <a:pPr algn="l"/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GB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=“important”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important text content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GB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id</a:t>
            </a:r>
            <a:r>
              <a:rPr lang="en-GB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=“normal”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My first paragraph. – normal text content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GB" sz="20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endParaRPr lang="en-GB" dirty="0">
              <a:solidFill>
                <a:srgbClr val="0000CD"/>
              </a:solidFill>
              <a:latin typeface="Consolas" panose="020B0609020204030204" pitchFamily="49" charset="0"/>
            </a:endParaRPr>
          </a:p>
          <a:p>
            <a:pPr algn="l"/>
            <a:r>
              <a:rPr lang="en-GB" dirty="0">
                <a:solidFill>
                  <a:srgbClr val="A52A2A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</a:t>
            </a:r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important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red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font-size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sz="20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20px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endParaRPr lang="en-GB" sz="20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algn="l"/>
            <a:r>
              <a:rPr lang="en-GB" dirty="0">
                <a:solidFill>
                  <a:srgbClr val="A52A2A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</a:t>
            </a:r>
            <a:r>
              <a:rPr lang="en-GB" sz="20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normal 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		</a:t>
            </a:r>
            <a:r>
              <a:rPr lang="en-GB" sz="20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color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</a:t>
            </a:r>
            <a:r>
              <a:rPr lang="en-GB" sz="20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black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			</a:t>
            </a:r>
            <a: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font-size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: </a:t>
            </a:r>
            <a:r>
              <a:rPr lang="en-GB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16</a:t>
            </a:r>
            <a:r>
              <a:rPr lang="en-GB" sz="20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px</a:t>
            </a: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br>
              <a:rPr lang="en-GB" sz="20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GB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algn="l"/>
            <a:endParaRPr lang="en-GB" sz="20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sz="2000" b="0" i="0" dirty="0">
              <a:solidFill>
                <a:srgbClr val="0000CD"/>
              </a:solidFill>
              <a:effectLst/>
              <a:latin typeface="Consolas" panose="020B0609020204030204" pitchFamily="49" charset="0"/>
            </a:endParaRPr>
          </a:p>
          <a:p>
            <a:endParaRPr lang="en-GB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endParaRPr lang="en-GB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9716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&amp; CSS </a:t>
            </a:r>
            <a:r>
              <a:rPr lang="en-GB" sz="3200" dirty="0"/>
              <a:t>–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Images are an important part of a website – how can we add them properly?</a:t>
            </a:r>
            <a:endParaRPr lang="en-GB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pPr algn="l"/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2400" b="0" i="0" dirty="0" err="1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img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GB" sz="24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src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=“</a:t>
            </a:r>
            <a:r>
              <a:rPr lang="en-GB" sz="2400" b="0" i="1" dirty="0" err="1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url</a:t>
            </a:r>
            <a:r>
              <a:rPr lang="en-GB" sz="24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”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alt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=“</a:t>
            </a:r>
            <a:r>
              <a:rPr lang="en-GB" sz="2400" b="0" i="1" dirty="0" err="1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alternatetext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”&gt;</a:t>
            </a:r>
          </a:p>
          <a:p>
            <a:pPr algn="l"/>
            <a:endParaRPr lang="en-GB" sz="2400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The </a:t>
            </a:r>
            <a:r>
              <a:rPr lang="en-GB" sz="24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src</a:t>
            </a: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 attribute describes to the web page where to get that photo from, it needs to be saved in a location that can be accessed by the web page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One idea is to have a folder, usually one level up from the web pages, in your file structure, that contains all the photos you need, and then you reference them relative to your webpage</a:t>
            </a:r>
            <a:endParaRPr lang="en-GB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Graphik" panose="020B0503030202060203" pitchFamily="34" charset="77"/>
            </a:endParaRPr>
          </a:p>
          <a:p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2400" b="0" i="0" dirty="0" err="1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img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GB" sz="2400" b="0" i="0" dirty="0" err="1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src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=“</a:t>
            </a:r>
            <a:r>
              <a:rPr lang="en-GB" sz="2400" i="1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./photos/picture1.jpg</a:t>
            </a:r>
            <a:r>
              <a:rPr lang="en-GB" sz="24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”</a:t>
            </a:r>
            <a:r>
              <a:rPr lang="en-GB" sz="2400" b="0" i="0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alt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=“important text that describes the photo</a:t>
            </a:r>
            <a:r>
              <a:rPr lang="en-GB" sz="2400" dirty="0">
                <a:solidFill>
                  <a:srgbClr val="0000CD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”</a:t>
            </a:r>
            <a:r>
              <a:rPr lang="en-GB" sz="24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229847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&amp; CSS </a:t>
            </a:r>
            <a:r>
              <a:rPr lang="en-GB" sz="3200" dirty="0"/>
              <a:t>–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If you want to move between pages, you can use the &lt;a&gt; element to point one thing to another</a:t>
            </a:r>
            <a:endParaRPr lang="en-GB" sz="2400" b="0" i="0" dirty="0">
              <a:solidFill>
                <a:srgbClr val="0000CD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algn="l"/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GB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="</a:t>
            </a:r>
            <a:r>
              <a:rPr lang="en-GB" sz="2400" b="0" i="1" dirty="0" err="1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"&gt;</a:t>
            </a:r>
            <a:r>
              <a:rPr lang="en-GB" sz="2400" b="0" i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link text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/a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2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algn="l"/>
            <a:endParaRPr lang="en-GB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Graphik" panose="020B0503030202060203" pitchFamily="34" charset="77"/>
              </a:rPr>
              <a:t>This can be done relatively, so you can point one piece of text from one page to another</a:t>
            </a:r>
          </a:p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GB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=“/about-</a:t>
            </a:r>
            <a:r>
              <a:rPr lang="en-GB" sz="2400" b="0" i="0" dirty="0" err="1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us.html</a:t>
            </a:r>
            <a:r>
              <a:rPr lang="en-GB" sz="2400" dirty="0">
                <a:solidFill>
                  <a:srgbClr val="0000CD"/>
                </a:solidFill>
                <a:latin typeface="Consolas" panose="020B0609020204030204" pitchFamily="49" charset="0"/>
              </a:rPr>
              <a:t>”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GB" sz="2400" b="0" i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About Us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/a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endParaRPr lang="en-GB" sz="2400" dirty="0">
              <a:solidFill>
                <a:srgbClr val="0000CD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highlight>
                  <a:srgbClr val="FFFFFF"/>
                </a:highlight>
                <a:latin typeface="Graphik" panose="020B0503030202060203" pitchFamily="34" charset="77"/>
              </a:rPr>
              <a:t>Or it can be done absolutely, which points to another website entirely</a:t>
            </a:r>
          </a:p>
          <a:p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GB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="https://</a:t>
            </a:r>
            <a:r>
              <a:rPr lang="en-GB" sz="2400" b="0" i="0" dirty="0" err="1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www.google.com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/"&gt;</a:t>
            </a: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 something on Google!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/a</a:t>
            </a:r>
            <a:r>
              <a:rPr lang="en-GB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2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0291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HTML &amp; CSS </a:t>
            </a:r>
            <a:r>
              <a:rPr lang="en-GB" sz="3200" dirty="0"/>
              <a:t>– Searching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049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An important skill to learn as a technical person is </a:t>
            </a:r>
            <a:r>
              <a:rPr lang="en-GB" sz="2400" b="1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how to search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It sounds simple, but being able to know what and how to search specific things helps you figure out how to fix a problem – </a:t>
            </a:r>
            <a:r>
              <a:rPr lang="en-GB" sz="2400" b="1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most issues have already been encountered by someone else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Styling </a:t>
            </a:r>
            <a:r>
              <a:rPr lang="en-GB" sz="2400" dirty="0" err="1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divs</a:t>
            </a: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 is something you can do to make the page look more professional – but how can we do this if we don’t know the CSS by heart?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We can </a:t>
            </a:r>
            <a:r>
              <a:rPr lang="en-GB" sz="2400" b="1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Google it!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Some good websites to use for HTML are:</a:t>
            </a:r>
          </a:p>
          <a:p>
            <a:pPr marL="800100" lvl="2" indent="-342900"/>
            <a:r>
              <a:rPr lang="en-GB" sz="2400" b="1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W3Schools</a:t>
            </a:r>
          </a:p>
          <a:p>
            <a:pPr marL="800100" lvl="2" indent="-342900"/>
            <a:r>
              <a:rPr lang="en-GB" sz="2400" b="1" dirty="0" err="1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mdn</a:t>
            </a:r>
            <a:r>
              <a:rPr lang="en-GB" sz="2400" b="1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 Web Docs</a:t>
            </a:r>
            <a:r>
              <a:rPr lang="en-GB" sz="2400" dirty="0">
                <a:solidFill>
                  <a:srgbClr val="000000"/>
                </a:solidFill>
                <a:highlight>
                  <a:srgbClr val="FFFFFF"/>
                </a:highlight>
                <a:latin typeface="Graphik" panose="020B0503030202060203" pitchFamily="34" charset="77"/>
              </a:rPr>
              <a:t> (HTML, CSS)</a:t>
            </a:r>
            <a:endParaRPr lang="en-GB" sz="2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310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C9125F-A107-DDA9-93A7-4B6FD93EA8D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9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th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April 2024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546A17-0A22-AFDC-A143-E3CD51A349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>
                <a:latin typeface="+mj-lt"/>
              </a:rPr>
              <a:t>Accenture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0C3520-E8FA-8FE3-C0E4-39F2C68C4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1" y="1456376"/>
            <a:ext cx="5284075" cy="2779294"/>
          </a:xfrm>
        </p:spPr>
        <p:txBody>
          <a:bodyPr/>
          <a:lstStyle/>
          <a:p>
            <a:r>
              <a:rPr lang="en-GB" sz="6600" dirty="0"/>
              <a:t>Intro to JavaScript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A8A062-692B-3726-4110-460DF274832D}"/>
              </a:ext>
            </a:extLst>
          </p:cNvPr>
          <p:cNvSpPr txBox="1"/>
          <p:nvPr/>
        </p:nvSpPr>
        <p:spPr>
          <a:xfrm>
            <a:off x="3600450" y="-2857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1634A-172B-068B-1A70-44EECD6DA64F}"/>
              </a:ext>
            </a:extLst>
          </p:cNvPr>
          <p:cNvSpPr txBox="1"/>
          <p:nvPr/>
        </p:nvSpPr>
        <p:spPr>
          <a:xfrm>
            <a:off x="914400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BB76B8-F02E-DDD5-8DC2-DBE6CCD6B4D3}"/>
              </a:ext>
            </a:extLst>
          </p:cNvPr>
          <p:cNvSpPr txBox="1"/>
          <p:nvPr/>
        </p:nvSpPr>
        <p:spPr>
          <a:xfrm>
            <a:off x="1177159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84648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JavaScript helps to make our HTML pages interactive – we want something to happen when we click or hover or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So far, we can only create static websites, this means that the information on the website stays exactly as it is all the time – it’s the same for everyone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When we introduce JavaScript, we can start thinking about customising the experience for the user and creating something new - like outcomes from doing something like clicking a button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JavaScript is a programming language that we can put into our HTML that executes like a set of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2583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We use the </a:t>
            </a:r>
            <a:r>
              <a:rPr lang="en-GB" sz="2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GB" sz="2800" b="0" i="0" dirty="0">
                <a:solidFill>
                  <a:srgbClr val="A52A2A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script</a:t>
            </a:r>
            <a:r>
              <a:rPr lang="en-GB" sz="2800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r>
              <a:rPr lang="en-GB" sz="2800" dirty="0"/>
              <a:t> tag to insert our JavaScript into our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We can use it for events like a click of a button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In our context, we want to take the user input data from an HTML form that we created on the webpage, and export it to a file that can be read by a program like Microsoft Excel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How can we think like a computer to make this happen?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014186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When we’re programming, we have to think very logically and literally – the program will do exactly what you have asked it to do, with no assumptions beyond what you have explicitly stated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know where we want to start – an empty form, and we know where we want to end – a populated spreadsheet – what are the steps we need to take to get there?</a:t>
            </a:r>
          </a:p>
          <a:p>
            <a:pPr marL="971550" lvl="2" indent="-514350">
              <a:buFont typeface="+mj-lt"/>
              <a:buAutoNum type="arabicPeriod"/>
            </a:pPr>
            <a:r>
              <a:rPr lang="en-GB" sz="2400" dirty="0"/>
              <a:t>Allow a user to type in their responses</a:t>
            </a:r>
          </a:p>
          <a:p>
            <a:pPr marL="971550" lvl="2" indent="-514350">
              <a:buFont typeface="+mj-lt"/>
              <a:buAutoNum type="arabicPeriod"/>
            </a:pPr>
            <a:r>
              <a:rPr lang="en-GB" sz="2400" dirty="0"/>
              <a:t>Save the responses from the user somewhere when they click submit</a:t>
            </a:r>
          </a:p>
          <a:p>
            <a:pPr marL="971550" lvl="2" indent="-514350">
              <a:buFont typeface="+mj-lt"/>
              <a:buAutoNum type="arabicPeriod"/>
            </a:pPr>
            <a:r>
              <a:rPr lang="en-GB" sz="2400" dirty="0"/>
              <a:t>Collate all the user responses as they keep submitting</a:t>
            </a:r>
          </a:p>
          <a:p>
            <a:pPr marL="971550" lvl="2" indent="-514350">
              <a:buFont typeface="+mj-lt"/>
              <a:buAutoNum type="arabicPeriod"/>
            </a:pPr>
            <a:r>
              <a:rPr lang="en-GB" sz="2400" dirty="0"/>
              <a:t>Write the stored information to an external file when you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How can we tell the computer to do this?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61379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need somewhere to store the data – this is where variables come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Variables are like little memory boxes – they can store information and manipulate it when we want, and we can reference variables when we want to retrieve or change something stored inside 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define variables using keywords: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userData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GB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userData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We use </a:t>
            </a:r>
            <a:r>
              <a:rPr lang="en-GB" sz="2400" b="1" dirty="0">
                <a:latin typeface="Graphik" panose="020B0503030202060203" pitchFamily="34" charset="77"/>
                <a:cs typeface="Consolas" panose="020B0609020204030204" pitchFamily="49" charset="0"/>
              </a:rPr>
              <a:t>let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 if the variable is something we want to change - we might want to do something do 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We use </a:t>
            </a:r>
            <a:r>
              <a:rPr lang="en-GB" sz="2400" b="1" dirty="0" err="1">
                <a:latin typeface="Graphik" panose="020B0503030202060203" pitchFamily="34" charset="77"/>
                <a:cs typeface="Consolas" panose="020B0609020204030204" pitchFamily="49" charset="0"/>
              </a:rPr>
              <a:t>const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 is the variable is a constant – something that will never change</a:t>
            </a:r>
          </a:p>
        </p:txBody>
      </p:sp>
    </p:spTree>
    <p:extLst>
      <p:ext uri="{BB962C8B-B14F-4D97-AF65-F5344CB8AC3E}">
        <p14:creationId xmlns:p14="http://schemas.microsoft.com/office/powerpoint/2010/main" val="356397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When we use variables, we are storing data, and there’s different types of data that we need to learn to store</a:t>
            </a:r>
          </a:p>
          <a:p>
            <a:endParaRPr lang="en-GB" sz="2400" dirty="0"/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we use this for any type of alphanumeric data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we use this for integers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we use this for true or false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Object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we use this when we want to store key-value pairs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Array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: we use this when we want to store things in a list</a:t>
            </a:r>
          </a:p>
        </p:txBody>
      </p:sp>
    </p:spTree>
    <p:extLst>
      <p:ext uri="{BB962C8B-B14F-4D97-AF65-F5344CB8AC3E}">
        <p14:creationId xmlns:p14="http://schemas.microsoft.com/office/powerpoint/2010/main" val="2186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use logic in order to make our code perform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This can be mathematical operations like: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+			Addition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-			Subtraction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*			Multiplication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/			Division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can also be to compare things and figure out whether they’re true or false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 == b						a != b						a &lt;= b						a &gt; b					a &gt;= b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63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Conditional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can take </a:t>
            </a:r>
            <a:r>
              <a:rPr lang="en-GB" sz="2400" dirty="0">
                <a:solidFill>
                  <a:srgbClr val="00B050"/>
                </a:solidFill>
              </a:rPr>
              <a:t>logic</a:t>
            </a:r>
            <a:r>
              <a:rPr lang="en-GB" sz="2400" dirty="0"/>
              <a:t> and base certain operations on it, for example:</a:t>
            </a:r>
          </a:p>
          <a:p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a </a:t>
            </a:r>
            <a:r>
              <a:rPr lang="en-GB" sz="24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== 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b </a:t>
            </a:r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		then do something…</a:t>
            </a:r>
          </a:p>
          <a:p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if ( 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en-GB" sz="24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b </a:t>
            </a:r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		do something else…</a:t>
            </a:r>
          </a:p>
          <a:p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		do this instead…</a:t>
            </a:r>
          </a:p>
          <a:p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5245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Alternatively, we can loop through arrays, and make things happen based on certain pieces of information, for example:</a:t>
            </a:r>
          </a:p>
          <a:p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numbers_list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= [0, 1, 3, 6, 10];</a:t>
            </a:r>
          </a:p>
          <a:p>
            <a:endParaRPr lang="en-GB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for (</a:t>
            </a:r>
            <a:r>
              <a:rPr lang="en-GB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of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numbers_list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* 2;</a:t>
            </a:r>
          </a:p>
          <a:p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GB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b="1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console.log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numbers_list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7286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600" dirty="0"/>
              <a:t>We can put </a:t>
            </a:r>
            <a:r>
              <a:rPr lang="en-GB" sz="1600" dirty="0">
                <a:solidFill>
                  <a:srgbClr val="FF0000"/>
                </a:solidFill>
              </a:rPr>
              <a:t>variables</a:t>
            </a:r>
            <a:r>
              <a:rPr lang="en-GB" sz="1600" dirty="0"/>
              <a:t> and </a:t>
            </a:r>
            <a:r>
              <a:rPr lang="en-GB" sz="1600" dirty="0">
                <a:solidFill>
                  <a:srgbClr val="7030A0"/>
                </a:solidFill>
              </a:rPr>
              <a:t>logic</a:t>
            </a:r>
            <a:r>
              <a:rPr lang="en-GB" sz="1600" dirty="0"/>
              <a:t> and </a:t>
            </a:r>
            <a:r>
              <a:rPr lang="en-GB" sz="1600" dirty="0">
                <a:solidFill>
                  <a:srgbClr val="FFC000"/>
                </a:solidFill>
              </a:rPr>
              <a:t>loops</a:t>
            </a:r>
            <a:r>
              <a:rPr lang="en-GB" sz="1600" dirty="0"/>
              <a:t> together and create small pieces of code called </a:t>
            </a:r>
            <a:r>
              <a:rPr lang="en-GB" sz="1600" dirty="0">
                <a:solidFill>
                  <a:srgbClr val="00B050"/>
                </a:solidFill>
              </a:rPr>
              <a:t>functions</a:t>
            </a:r>
            <a:r>
              <a:rPr lang="en-GB" sz="1600" dirty="0"/>
              <a:t> that serve specific purposes and that we can call in our code to do specific things, for example:</a:t>
            </a:r>
          </a:p>
          <a:p>
            <a:r>
              <a:rPr lang="en-GB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double_numbers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GB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let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doubled_array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= [] ;</a:t>
            </a:r>
          </a:p>
          <a:p>
            <a:r>
              <a:rPr lang="en-GB" sz="160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for (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of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</a:t>
            </a:r>
            <a:r>
              <a:rPr lang="en-GB" sz="160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			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doubled_array</a:t>
            </a:r>
            <a:r>
              <a:rPr lang="en-GB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.push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 2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 ;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doubled_array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GB" sz="1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GB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numbers_list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 = [0, 1, 3, 6, 10];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let 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doubled_list</a:t>
            </a:r>
            <a:r>
              <a:rPr lang="en-GB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GB" sz="16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doubleNumbers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numbers_list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GB" sz="16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console.log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1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doubled_list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578275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cs typeface="Consolas" panose="020B0609020204030204" pitchFamily="49" charset="0"/>
              </a:rPr>
              <a:t>An </a:t>
            </a:r>
            <a:r>
              <a:rPr lang="en-GB" sz="2400" dirty="0">
                <a:solidFill>
                  <a:schemeClr val="accent1"/>
                </a:solidFill>
                <a:cs typeface="Consolas" panose="020B0609020204030204" pitchFamily="49" charset="0"/>
              </a:rPr>
              <a:t>array</a:t>
            </a:r>
            <a:r>
              <a:rPr lang="en-GB" sz="2400" dirty="0">
                <a:cs typeface="Consolas" panose="020B0609020204030204" pitchFamily="49" charset="0"/>
              </a:rPr>
              <a:t> is another way of saying a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1"/>
                </a:solidFill>
                <a:cs typeface="Consolas" panose="020B0609020204030204" pitchFamily="49" charset="0"/>
              </a:rPr>
              <a:t>Arrays</a:t>
            </a:r>
            <a:r>
              <a:rPr lang="en-GB" sz="2400" dirty="0">
                <a:cs typeface="Consolas" panose="020B0609020204030204" pitchFamily="49" charset="0"/>
              </a:rPr>
              <a:t> can contain</a:t>
            </a:r>
            <a:r>
              <a:rPr lang="en-GB" sz="2400" dirty="0">
                <a:solidFill>
                  <a:srgbClr val="00B050"/>
                </a:solidFill>
                <a:cs typeface="Consolas" panose="020B0609020204030204" pitchFamily="49" charset="0"/>
              </a:rPr>
              <a:t> different </a:t>
            </a:r>
            <a:r>
              <a:rPr lang="en-GB" sz="2400" dirty="0">
                <a:solidFill>
                  <a:srgbClr val="0070C0"/>
                </a:solidFill>
                <a:cs typeface="Consolas" panose="020B0609020204030204" pitchFamily="49" charset="0"/>
              </a:rPr>
              <a:t>data types</a:t>
            </a:r>
            <a:r>
              <a:rPr lang="en-GB" sz="2400" dirty="0">
                <a:cs typeface="Consolas" panose="020B0609020204030204" pitchFamily="49" charset="0"/>
              </a:rPr>
              <a:t>, but they should be consistent e.g.</a:t>
            </a:r>
          </a:p>
          <a:p>
            <a:endParaRPr lang="en-GB" sz="2400" dirty="0">
              <a:cs typeface="Consolas" panose="020B0609020204030204" pitchFamily="49" charset="0"/>
            </a:endParaRPr>
          </a:p>
          <a:p>
            <a:r>
              <a:rPr lang="en-GB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numbers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72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35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GB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“Sam”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“Paula”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3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36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“Cherie” </a:t>
            </a:r>
            <a:r>
              <a:rPr lang="en-GB" sz="3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01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  <a:cs typeface="Consolas" panose="020B0609020204030204" pitchFamily="49" charset="0"/>
              </a:rPr>
              <a:t>Objects</a:t>
            </a:r>
            <a:r>
              <a:rPr lang="en-GB" sz="2400" dirty="0">
                <a:cs typeface="Consolas" panose="020B0609020204030204" pitchFamily="49" charset="0"/>
              </a:rPr>
              <a:t> help us to organise and store key-value pairs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cs typeface="Consolas" panose="020B0609020204030204" pitchFamily="49" charset="0"/>
              </a:rPr>
              <a:t>This means that they contain </a:t>
            </a:r>
            <a:r>
              <a:rPr lang="en-GB" sz="2400" dirty="0">
                <a:solidFill>
                  <a:srgbClr val="FF0000"/>
                </a:solidFill>
                <a:cs typeface="Consolas" panose="020B0609020204030204" pitchFamily="49" charset="0"/>
              </a:rPr>
              <a:t>2 pieces </a:t>
            </a:r>
            <a:r>
              <a:rPr lang="en-GB" sz="2400" dirty="0">
                <a:cs typeface="Consolas" panose="020B0609020204030204" pitchFamily="49" charset="0"/>
              </a:rPr>
              <a:t>of information for each thing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let student1 =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“Sandy”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let student2 =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“Andrea”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  <a:p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let student3 =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“Cass”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  <a:p>
            <a:endParaRPr lang="en-GB" sz="18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400" dirty="0">
                <a:cs typeface="Consolas" panose="020B0609020204030204" pitchFamily="49" charset="0"/>
              </a:rPr>
              <a:t>We can access </a:t>
            </a:r>
            <a:r>
              <a:rPr lang="en-GB" sz="2400" dirty="0">
                <a:solidFill>
                  <a:srgbClr val="00B050"/>
                </a:solidFill>
                <a:cs typeface="Consolas" panose="020B0609020204030204" pitchFamily="49" charset="0"/>
              </a:rPr>
              <a:t>properties</a:t>
            </a:r>
            <a:r>
              <a:rPr lang="en-GB" sz="2400" dirty="0">
                <a:cs typeface="Consolas" panose="020B0609020204030204" pitchFamily="49" charset="0"/>
              </a:rPr>
              <a:t> within objects by using “.” like this: </a:t>
            </a:r>
          </a:p>
          <a:p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Console.log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student3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					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 Cass</a:t>
            </a:r>
          </a:p>
          <a:p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Console.log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student2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					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 false</a:t>
            </a:r>
            <a:endParaRPr lang="en-GB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Console.log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						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 17</a:t>
            </a:r>
            <a:endParaRPr lang="en-GB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solidFill>
                <a:srgbClr val="FF0000"/>
              </a:solidFill>
              <a:cs typeface="Consolas" panose="020B0609020204030204" pitchFamily="49" charset="0"/>
            </a:endParaRPr>
          </a:p>
          <a:p>
            <a:endParaRPr lang="en-GB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3897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Ordering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 to the scenario – we have a form that accepts different types of data and we need to store it, what were the steps?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We need a variable to store the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We want to make sure we know what information is associated with what submission, so we might need a bit of both – objects are good at storing key-value pairs, and arrays are good at storing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We want the end result to be an </a:t>
            </a:r>
            <a:r>
              <a:rPr lang="en-GB" sz="2400" dirty="0">
                <a:solidFill>
                  <a:srgbClr val="FF0000"/>
                </a:solidFill>
                <a:latin typeface="Graphik" panose="020B0503030202060203" pitchFamily="34" charset="77"/>
                <a:cs typeface="Consolas" panose="020B0609020204030204" pitchFamily="49" charset="0"/>
              </a:rPr>
              <a:t>array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 of </a:t>
            </a:r>
            <a:r>
              <a:rPr lang="en-GB" sz="2400" dirty="0">
                <a:solidFill>
                  <a:srgbClr val="00B0F0"/>
                </a:solidFill>
                <a:latin typeface="Graphik" panose="020B0503030202060203" pitchFamily="34" charset="77"/>
                <a:cs typeface="Consolas" panose="020B0609020204030204" pitchFamily="49" charset="0"/>
              </a:rPr>
              <a:t>objects 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containing </a:t>
            </a:r>
            <a:r>
              <a:rPr lang="en-GB" sz="2400" dirty="0" err="1">
                <a:solidFill>
                  <a:srgbClr val="00B050"/>
                </a:solidFill>
                <a:latin typeface="Graphik" panose="020B0503030202060203" pitchFamily="34" charset="77"/>
                <a:cs typeface="Consolas" panose="020B0609020204030204" pitchFamily="49" charset="0"/>
              </a:rPr>
              <a:t>ints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, and </a:t>
            </a:r>
            <a:r>
              <a:rPr lang="en-GB" sz="2400" dirty="0">
                <a:solidFill>
                  <a:srgbClr val="FFC000"/>
                </a:solidFill>
                <a:latin typeface="Graphik" panose="020B0503030202060203" pitchFamily="34" charset="77"/>
                <a:cs typeface="Consolas" panose="020B0609020204030204" pitchFamily="49" charset="0"/>
              </a:rPr>
              <a:t>strings</a:t>
            </a:r>
          </a:p>
          <a:p>
            <a:endParaRPr lang="en-GB" sz="2400" dirty="0">
              <a:solidFill>
                <a:srgbClr val="FFC000"/>
              </a:solidFill>
              <a:latin typeface="Graphik" panose="020B0503030202060203" pitchFamily="34" charset="77"/>
              <a:cs typeface="Consolas" panose="020B0609020204030204" pitchFamily="49" charset="0"/>
            </a:endParaRPr>
          </a:p>
          <a:p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alice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23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house_cost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250000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bob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31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house_cost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30000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carla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19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house_cost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100000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damian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age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27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house_cost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185000</a:t>
            </a:r>
            <a:r>
              <a:rPr lang="en-GB" sz="2400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 </a:t>
            </a:r>
            <a:r>
              <a:rPr lang="en-GB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latin typeface="Graphik" panose="020B0503030202060203" pitchFamily="34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426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Ordering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73012-4DB4-473C-ADE5-4B2B59B5F0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 to the scenario – we have a form that accepts different types of data and we need to store it, what were the steps?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We need to know when to store the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This is where it will be handy to use some of JavaScript's built-in </a:t>
            </a:r>
            <a:r>
              <a:rPr lang="en-GB" sz="2400" dirty="0">
                <a:solidFill>
                  <a:srgbClr val="00B050"/>
                </a:solidFill>
                <a:latin typeface="Graphik" panose="020B0503030202060203" pitchFamily="34" charset="77"/>
                <a:cs typeface="Consolas" panose="020B0609020204030204" pitchFamily="49" charset="0"/>
              </a:rPr>
              <a:t>functions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 like </a:t>
            </a:r>
            <a:r>
              <a:rPr lang="en-GB" sz="2400" b="1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getElementById</a:t>
            </a:r>
            <a:r>
              <a:rPr lang="en-GB" sz="24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or</a:t>
            </a:r>
            <a:r>
              <a:rPr lang="en-GB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400" b="1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addEventListener</a:t>
            </a:r>
            <a:r>
              <a:rPr lang="en-GB" sz="24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latin typeface="Graphik" panose="020B0503030202060203" pitchFamily="34" charset="77"/>
              <a:cs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raphik" panose="020B0503030202060203" pitchFamily="34" charset="77"/>
                <a:cs typeface="Consolas" panose="020B0609020204030204" pitchFamily="49" charset="0"/>
              </a:rPr>
              <a:t>This is starting to get a bit more complicated, and it’s still not very tangible, let’s go through a demo and see what we want the end result to be, and figure out how we can get there</a:t>
            </a:r>
          </a:p>
        </p:txBody>
      </p:sp>
    </p:spTree>
    <p:extLst>
      <p:ext uri="{BB962C8B-B14F-4D97-AF65-F5344CB8AC3E}">
        <p14:creationId xmlns:p14="http://schemas.microsoft.com/office/powerpoint/2010/main" val="2825148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2190F-9F5F-411F-8534-648CEC75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JavaScript </a:t>
            </a:r>
            <a:r>
              <a:rPr lang="en-GB" sz="3200" dirty="0"/>
              <a:t>– A Worked Demo</a:t>
            </a:r>
          </a:p>
        </p:txBody>
      </p:sp>
      <p:pic>
        <p:nvPicPr>
          <p:cNvPr id="5" name="Picture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DE30D35E-9EBA-F08D-79A5-296F4B518A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18" y="966842"/>
            <a:ext cx="6038582" cy="575145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1773D-89CA-8EB2-75D7-6EC5D868F78C}"/>
              </a:ext>
            </a:extLst>
          </p:cNvPr>
          <p:cNvCxnSpPr>
            <a:cxnSpLocks/>
          </p:cNvCxnSpPr>
          <p:nvPr/>
        </p:nvCxnSpPr>
        <p:spPr>
          <a:xfrm flipH="1">
            <a:off x="4076700" y="1270000"/>
            <a:ext cx="515620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7A73A8-8D04-13DE-8E6C-2E8603BA74FC}"/>
              </a:ext>
            </a:extLst>
          </p:cNvPr>
          <p:cNvCxnSpPr>
            <a:cxnSpLocks/>
          </p:cNvCxnSpPr>
          <p:nvPr/>
        </p:nvCxnSpPr>
        <p:spPr>
          <a:xfrm flipH="1">
            <a:off x="2184400" y="1943100"/>
            <a:ext cx="704850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CC632-5AF3-7F48-BBE9-503FEC389F94}"/>
              </a:ext>
            </a:extLst>
          </p:cNvPr>
          <p:cNvCxnSpPr>
            <a:cxnSpLocks/>
          </p:cNvCxnSpPr>
          <p:nvPr/>
        </p:nvCxnSpPr>
        <p:spPr>
          <a:xfrm flipH="1">
            <a:off x="4432300" y="2882900"/>
            <a:ext cx="480060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F064E1-1A07-BA41-B74F-69BD91125271}"/>
              </a:ext>
            </a:extLst>
          </p:cNvPr>
          <p:cNvCxnSpPr>
            <a:cxnSpLocks/>
          </p:cNvCxnSpPr>
          <p:nvPr/>
        </p:nvCxnSpPr>
        <p:spPr>
          <a:xfrm flipH="1">
            <a:off x="2806700" y="3708400"/>
            <a:ext cx="642620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73D6418-B16E-5894-7929-606FF1D717B1}"/>
              </a:ext>
            </a:extLst>
          </p:cNvPr>
          <p:cNvCxnSpPr>
            <a:cxnSpLocks/>
          </p:cNvCxnSpPr>
          <p:nvPr/>
        </p:nvCxnSpPr>
        <p:spPr>
          <a:xfrm flipH="1">
            <a:off x="2495550" y="4356100"/>
            <a:ext cx="673735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8263858-6247-8BE1-B4F8-07B2CE992BD9}"/>
              </a:ext>
            </a:extLst>
          </p:cNvPr>
          <p:cNvCxnSpPr>
            <a:cxnSpLocks/>
          </p:cNvCxnSpPr>
          <p:nvPr/>
        </p:nvCxnSpPr>
        <p:spPr>
          <a:xfrm flipH="1">
            <a:off x="2438400" y="5156200"/>
            <a:ext cx="679450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FE24F-0111-9F32-7D7A-32EA474A3CF7}"/>
              </a:ext>
            </a:extLst>
          </p:cNvPr>
          <p:cNvCxnSpPr>
            <a:cxnSpLocks/>
          </p:cNvCxnSpPr>
          <p:nvPr/>
        </p:nvCxnSpPr>
        <p:spPr>
          <a:xfrm flipH="1">
            <a:off x="5835650" y="1600200"/>
            <a:ext cx="339725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235681F-2945-8A8C-814C-4A1CB643C5F7}"/>
              </a:ext>
            </a:extLst>
          </p:cNvPr>
          <p:cNvCxnSpPr>
            <a:cxnSpLocks/>
          </p:cNvCxnSpPr>
          <p:nvPr/>
        </p:nvCxnSpPr>
        <p:spPr>
          <a:xfrm flipH="1">
            <a:off x="3178309" y="6131472"/>
            <a:ext cx="6054591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C3D665E-6818-271C-3DD3-09B074A0D32E}"/>
              </a:ext>
            </a:extLst>
          </p:cNvPr>
          <p:cNvCxnSpPr>
            <a:cxnSpLocks/>
          </p:cNvCxnSpPr>
          <p:nvPr/>
        </p:nvCxnSpPr>
        <p:spPr>
          <a:xfrm flipH="1">
            <a:off x="5835650" y="5340131"/>
            <a:ext cx="339725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34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84AFE-DD52-E2B9-8929-20FA9B7F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EEB75A-8E6F-BA03-0812-C885CFD54FA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9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th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April 2024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64B36-657D-9D3F-CE3E-794337A5D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>
                <a:latin typeface="+mj-lt"/>
              </a:rPr>
              <a:t>Accenture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B8EC32-B340-9A6C-6E68-D085A9511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1" y="1456376"/>
            <a:ext cx="5284075" cy="2779294"/>
          </a:xfrm>
        </p:spPr>
        <p:txBody>
          <a:bodyPr/>
          <a:lstStyle/>
          <a:p>
            <a:r>
              <a:rPr lang="en-GB" sz="6600" dirty="0"/>
              <a:t>Intro to Python  GenAI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87123A-7486-ED5C-0325-CF99A98DDB44}"/>
              </a:ext>
            </a:extLst>
          </p:cNvPr>
          <p:cNvSpPr txBox="1"/>
          <p:nvPr/>
        </p:nvSpPr>
        <p:spPr>
          <a:xfrm>
            <a:off x="3600450" y="-2857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852A4D-1E50-73DB-076D-E8587BB7A2F7}"/>
              </a:ext>
            </a:extLst>
          </p:cNvPr>
          <p:cNvSpPr txBox="1"/>
          <p:nvPr/>
        </p:nvSpPr>
        <p:spPr>
          <a:xfrm>
            <a:off x="914400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638D1-96BF-9199-35C2-E705E92517AC}"/>
              </a:ext>
            </a:extLst>
          </p:cNvPr>
          <p:cNvSpPr txBox="1"/>
          <p:nvPr/>
        </p:nvSpPr>
        <p:spPr>
          <a:xfrm>
            <a:off x="1177159" y="625365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95103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6A8C1-15A0-3AD3-7A2C-D18DAD3D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938FC-1F7F-0EB6-0777-B1585779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188D9-E5B2-613E-569E-CA2A0DFEEFB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Python helps to automate tasks, run logic on the server, and process data. It makes things happen behind the scenes (not just in the browser).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So far, with only HTML/CSS we build static pages, Python lets the output change based on input, files, or external services.</a:t>
            </a: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With Python you can write scripts, build web backends (e.g., Flask), or call APIs to create personalised, data-driven experiences.</a:t>
            </a: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Python is a readable, general-purpose programming language with a large library ecosystem that executes clear instructions to perform real work (automation, web, data, AI).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9842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C6C36-9303-B7BE-3419-3F2119390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E0BB-FC37-36BF-2A47-3693911DB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An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27007-0FC3-870A-5F1D-B3D5ED4810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3349" y="1017442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Python uses names (variables) to store values. Types are inferred automatically (dynamic typing), so a variable can hold any type.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Variables : assign with,   name = "Alice"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Common types : integers, floats, strings, </a:t>
            </a:r>
            <a:r>
              <a:rPr lang="en-GB" dirty="0" err="1"/>
              <a:t>booleans</a:t>
            </a:r>
            <a:r>
              <a:rPr lang="en-GB" dirty="0"/>
              <a:t> , use type(x) to inspect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Containers : list , </a:t>
            </a:r>
            <a:r>
              <a:rPr lang="en-GB" dirty="0" err="1"/>
              <a:t>dict</a:t>
            </a:r>
            <a:r>
              <a:rPr lang="en-GB" dirty="0"/>
              <a:t> , tuple , set ,  choose by need (ordered, mutable, unique)</a:t>
            </a:r>
          </a:p>
          <a:p>
            <a:pPr>
              <a:defRPr sz="1400"/>
            </a:pP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# Example: types and inspection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age = 20            # int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pi = 3.14           # float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name = "Alice"     # str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print(type(age), type(name))  # &lt;class 'int'&gt; &lt;class 'str'&gt;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9593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0E1B-1843-6268-ECAE-92E617C0C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79833-AE80-AE4A-04B8-B12454EA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</a:t>
            </a:r>
            <a:r>
              <a:rPr lang="en-GB" dirty="0"/>
              <a:t> Control flow — If / For / While</a:t>
            </a:r>
            <a:br>
              <a:rPr lang="en-GB" dirty="0"/>
            </a:b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C4C23-64D7-C205-C57A-E31154902F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b="1" dirty="0"/>
              <a:t>Key idea:</a:t>
            </a:r>
            <a:r>
              <a:rPr lang="en-GB" dirty="0"/>
              <a:t> Indentation matters — Python uses whitespace for blocks (no braces).</a:t>
            </a:r>
          </a:p>
          <a:p>
            <a:r>
              <a:rPr lang="en-GB" b="1" dirty="0"/>
              <a:t>If / </a:t>
            </a:r>
            <a:r>
              <a:rPr lang="en-GB" b="1" dirty="0" err="1"/>
              <a:t>elif</a:t>
            </a:r>
            <a:r>
              <a:rPr lang="en-GB" b="1" dirty="0"/>
              <a:t> / else</a:t>
            </a:r>
            <a:r>
              <a:rPr lang="en-GB" dirty="0"/>
              <a:t> — branching by condition</a:t>
            </a:r>
          </a:p>
          <a:p>
            <a:endParaRPr lang="en-GB" dirty="0"/>
          </a:p>
          <a:p>
            <a:endParaRPr lang="en-GB" dirty="0"/>
          </a:p>
          <a:p>
            <a:pPr marL="685800" lvl="4" indent="0">
              <a:buNone/>
            </a:pPr>
            <a:r>
              <a:rPr lang="en-GB" dirty="0"/>
              <a:t>if score &gt;= 70:</a:t>
            </a:r>
          </a:p>
          <a:p>
            <a:pPr marL="685800" lvl="4" indent="0">
              <a:buNone/>
            </a:pPr>
            <a:r>
              <a:rPr lang="en-GB" dirty="0"/>
              <a:t>    print("Pass")</a:t>
            </a:r>
          </a:p>
          <a:p>
            <a:pPr marL="685800" lvl="4" indent="0">
              <a:buNone/>
            </a:pPr>
            <a:r>
              <a:rPr lang="en-GB" dirty="0" err="1"/>
              <a:t>elif</a:t>
            </a:r>
            <a:r>
              <a:rPr lang="en-GB" dirty="0"/>
              <a:t> score &gt;= 50:</a:t>
            </a:r>
          </a:p>
          <a:p>
            <a:pPr marL="685800" lvl="4" indent="0">
              <a:buNone/>
            </a:pPr>
            <a:r>
              <a:rPr lang="en-GB" dirty="0"/>
              <a:t>    print("Resit")</a:t>
            </a:r>
          </a:p>
          <a:p>
            <a:pPr marL="685800" lvl="4" indent="0">
              <a:buNone/>
            </a:pPr>
            <a:r>
              <a:rPr lang="en-GB" dirty="0"/>
              <a:t>else:</a:t>
            </a:r>
          </a:p>
          <a:p>
            <a:pPr marL="685800" lvl="4" indent="0">
              <a:buNone/>
            </a:pPr>
            <a:r>
              <a:rPr lang="en-GB" dirty="0"/>
              <a:t>    print("Fail")</a:t>
            </a:r>
          </a:p>
          <a:p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1361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AC4D0-D2C3-944E-C954-CA4AEC2D3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4A62-DA85-425A-0579-F61FCD5E1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</a:t>
            </a:r>
            <a:r>
              <a:rPr lang="en-GB" dirty="0"/>
              <a:t> Control flow — If / For / While</a:t>
            </a:r>
            <a:br>
              <a:rPr lang="en-GB" dirty="0"/>
            </a:b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A38A-DCB2-84AB-B137-B0E37173D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b="1" dirty="0"/>
              <a:t>For</a:t>
            </a:r>
            <a:r>
              <a:rPr lang="en-GB" dirty="0"/>
              <a:t> — iterate any </a:t>
            </a:r>
            <a:r>
              <a:rPr lang="en-GB" dirty="0" err="1"/>
              <a:t>iterable</a:t>
            </a:r>
            <a:r>
              <a:rPr lang="en-GB" dirty="0"/>
              <a:t> (list, range, </a:t>
            </a:r>
            <a:r>
              <a:rPr lang="en-GB" dirty="0" err="1"/>
              <a:t>dict</a:t>
            </a:r>
            <a:r>
              <a:rPr lang="en-GB" dirty="0"/>
              <a:t> keys)</a:t>
            </a:r>
          </a:p>
          <a:p>
            <a:endParaRPr lang="en-GB" dirty="0"/>
          </a:p>
          <a:p>
            <a:pPr lvl="4"/>
            <a:r>
              <a:rPr lang="en-GB" dirty="0"/>
              <a:t>for i in range(3):</a:t>
            </a:r>
          </a:p>
          <a:p>
            <a:pPr marL="685800" lvl="4" indent="0">
              <a:buNone/>
            </a:pPr>
            <a:r>
              <a:rPr lang="en-GB" dirty="0"/>
              <a:t>    print(i)</a:t>
            </a:r>
          </a:p>
          <a:p>
            <a:pPr lvl="4"/>
            <a:r>
              <a:rPr lang="en-GB" dirty="0"/>
              <a:t>for item in items:</a:t>
            </a:r>
          </a:p>
          <a:p>
            <a:pPr marL="685800" lvl="4" indent="0">
              <a:buNone/>
            </a:pPr>
            <a:r>
              <a:rPr lang="en-GB" dirty="0"/>
              <a:t>    print(item)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51378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7490-6E27-7791-978C-EE4AF2071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D0511-3BD1-19C2-3E78-C70EF1247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</a:t>
            </a:r>
            <a:r>
              <a:rPr lang="en-GB" dirty="0"/>
              <a:t> Control flow — If / For / While</a:t>
            </a:r>
            <a:br>
              <a:rPr lang="en-GB" dirty="0"/>
            </a:b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ED704-F07C-7B7E-62FD-562AB3D2C2D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GB" b="1" dirty="0"/>
              <a:t>While</a:t>
            </a:r>
            <a:r>
              <a:rPr lang="en-GB" dirty="0"/>
              <a:t> — repeat while condition true (watch for infinite loops</a:t>
            </a:r>
          </a:p>
          <a:p>
            <a:endParaRPr lang="en-GB" dirty="0"/>
          </a:p>
          <a:p>
            <a:endParaRPr lang="en-GB" dirty="0"/>
          </a:p>
          <a:p>
            <a:pPr marL="457200" lvl="3" indent="0">
              <a:buNone/>
            </a:pPr>
            <a:r>
              <a:rPr lang="pt-BR" dirty="0"/>
              <a:t>n = 5</a:t>
            </a:r>
          </a:p>
          <a:p>
            <a:pPr marL="457200" lvl="3" indent="0">
              <a:buNone/>
            </a:pPr>
            <a:r>
              <a:rPr lang="pt-BR" dirty="0"/>
              <a:t>while n &gt; 0:</a:t>
            </a:r>
          </a:p>
          <a:p>
            <a:pPr marL="457200" lvl="3" indent="0">
              <a:buNone/>
            </a:pPr>
            <a:r>
              <a:rPr lang="pt-BR" dirty="0"/>
              <a:t>    print(n)</a:t>
            </a:r>
          </a:p>
          <a:p>
            <a:pPr marL="457200" lvl="3" indent="0">
              <a:buNone/>
            </a:pPr>
            <a:r>
              <a:rPr lang="pt-BR" dirty="0"/>
              <a:t>    n -= 1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8757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FDF75-5F40-4AE2-079B-8E3A69CFA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55CDD-3757-1231-C042-42627F41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</a:t>
            </a:r>
            <a:r>
              <a:rPr lang="en-GB" dirty="0"/>
              <a:t> Functions &amp; Imports 🧠</a:t>
            </a:r>
            <a:br>
              <a:rPr lang="en-GB" dirty="0"/>
            </a:b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AC214-CFC8-2CA4-ABE3-A8D132CEB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br>
              <a:rPr lang="en-GB" dirty="0"/>
            </a:b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2E6F75-69D1-38E4-3DDD-BEC7BE7FE74E}"/>
              </a:ext>
            </a:extLst>
          </p:cNvPr>
          <p:cNvSpPr txBox="1">
            <a:spLocks/>
          </p:cNvSpPr>
          <p:nvPr/>
        </p:nvSpPr>
        <p:spPr>
          <a:xfrm>
            <a:off x="319546" y="1103367"/>
            <a:ext cx="10977716" cy="4876800"/>
          </a:xfrm>
          <a:prstGeom prst="rect">
            <a:avLst/>
          </a:prstGeom>
        </p:spPr>
        <p:txBody>
          <a:bodyPr/>
          <a:lstStyle>
            <a:lvl1pPr marL="0" indent="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System Font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System Font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113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Functions package reusable logic. Modules let you reuse code across files. Use docstrings and clear parameter names for readability.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Defining : def greet(name): — use a docstring to explain purpose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Parameters : positional, default, *</a:t>
            </a:r>
            <a:r>
              <a:rPr lang="en-GB" sz="1400" dirty="0" err="1"/>
              <a:t>args</a:t>
            </a:r>
            <a:r>
              <a:rPr lang="en-GB" sz="1400" dirty="0"/>
              <a:t> , **</a:t>
            </a:r>
            <a:r>
              <a:rPr lang="en-GB" sz="1400" dirty="0" err="1"/>
              <a:t>kwargs</a:t>
            </a: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Return : functions should return values when appropriate</a:t>
            </a:r>
          </a:p>
          <a:p>
            <a:pPr>
              <a:defRPr sz="1400"/>
            </a:pPr>
            <a:r>
              <a:rPr lang="en-GB" sz="1400" dirty="0"/>
              <a:t>def add(a, b=0):</a:t>
            </a:r>
          </a:p>
          <a:p>
            <a:pPr>
              <a:defRPr sz="1400"/>
            </a:pPr>
            <a:r>
              <a:rPr lang="en-GB" sz="1400" dirty="0"/>
              <a:t>    """Return sum of two numbers"""</a:t>
            </a:r>
          </a:p>
          <a:p>
            <a:pPr>
              <a:defRPr sz="1400"/>
            </a:pPr>
            <a:r>
              <a:rPr lang="en-GB" sz="1400" dirty="0"/>
              <a:t>    return a + b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Imports : import </a:t>
            </a:r>
            <a:r>
              <a:rPr lang="en-GB" sz="1400" dirty="0" err="1"/>
              <a:t>os</a:t>
            </a:r>
            <a:r>
              <a:rPr lang="en-GB" sz="1400" dirty="0"/>
              <a:t> , from </a:t>
            </a:r>
            <a:r>
              <a:rPr lang="en-GB" sz="1400" dirty="0" err="1"/>
              <a:t>dotenv</a:t>
            </a:r>
            <a:r>
              <a:rPr lang="en-GB" sz="1400" dirty="0"/>
              <a:t> import </a:t>
            </a:r>
            <a:r>
              <a:rPr lang="en-GB" sz="1400" dirty="0" err="1"/>
              <a:t>load_dotenv</a:t>
            </a:r>
            <a:r>
              <a:rPr lang="en-GB" sz="1400" dirty="0"/>
              <a:t> — keep imports at top of file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/>
            </a:pPr>
            <a:r>
              <a:rPr lang="en-GB" sz="1400" dirty="0"/>
              <a:t># Import example</a:t>
            </a:r>
          </a:p>
          <a:p>
            <a:pPr>
              <a:defRPr sz="1400"/>
            </a:pPr>
            <a:r>
              <a:rPr lang="en-GB" sz="1400" dirty="0"/>
              <a:t>from math import sqrt</a:t>
            </a:r>
          </a:p>
          <a:p>
            <a:pPr>
              <a:defRPr sz="1400"/>
            </a:pPr>
            <a:r>
              <a:rPr lang="en-GB" sz="1400" dirty="0"/>
              <a:t>print(sqrt(9))</a:t>
            </a:r>
          </a:p>
          <a:p>
            <a:pPr>
              <a:defRPr sz="1400"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690171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1660F-27D2-8E0E-22C9-BF0E94F5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14D9D-6209-62FB-2A1A-3B9B2831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solidFill>
                  <a:schemeClr val="accent2"/>
                </a:solidFill>
              </a:rPr>
              <a:t>Python </a:t>
            </a:r>
            <a:r>
              <a:rPr lang="en-GB" sz="3200" dirty="0"/>
              <a:t>– </a:t>
            </a:r>
            <a:r>
              <a:rPr lang="en-GB" dirty="0"/>
              <a:t> Code Walkthrough:</a:t>
            </a:r>
            <a:br>
              <a:rPr lang="en-GB" dirty="0"/>
            </a:br>
            <a:r>
              <a:rPr lang="en-GB" sz="3200" dirty="0"/>
              <a:t>Read the Files  Quick Guide 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BA5FF-8964-B150-AD28-9036244610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1001" y="1243584"/>
            <a:ext cx="11430000" cy="5068317"/>
          </a:xfrm>
        </p:spPr>
        <p:txBody>
          <a:bodyPr vert="horz" lIns="0" tIns="0" rIns="0" bIns="0" rtlCol="0" anchor="t">
            <a:noAutofit/>
          </a:bodyPr>
          <a:lstStyle/>
          <a:p>
            <a:pPr>
              <a:defRPr sz="1400"/>
            </a:pPr>
            <a:br>
              <a:rPr lang="en-GB" dirty="0"/>
            </a:br>
            <a:r>
              <a:rPr lang="en-GB" dirty="0"/>
              <a:t>final-code/config.py</a:t>
            </a:r>
          </a:p>
          <a:p>
            <a:pPr>
              <a:defRPr sz="1400"/>
            </a:pPr>
            <a:r>
              <a:rPr lang="en-GB" dirty="0"/>
              <a:t>Loads env and checks GOOGLE_API_KEY</a:t>
            </a:r>
          </a:p>
          <a:p>
            <a:pPr>
              <a:defRPr sz="1400"/>
            </a:pPr>
            <a:r>
              <a:rPr lang="en-GB" dirty="0"/>
              <a:t>Raises an error if it's missing (helps students debug setup quickly)</a:t>
            </a:r>
          </a:p>
          <a:p>
            <a:pPr>
              <a:defRPr sz="1400"/>
            </a:pPr>
            <a:r>
              <a:rPr lang="en-GB" dirty="0"/>
              <a:t>Simple, commented Flask app that demonstrates endpoints and calling an external API</a:t>
            </a:r>
          </a:p>
          <a:p>
            <a:pPr>
              <a:defRPr sz="1400"/>
            </a:pPr>
            <a:r>
              <a:rPr lang="en-GB" dirty="0"/>
              <a:t>Readable: clear variable names, safe defaults, and short prompt builder</a:t>
            </a:r>
          </a:p>
          <a:p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DCFADCE-98BF-A031-9FA2-B20AA217480E}"/>
              </a:ext>
            </a:extLst>
          </p:cNvPr>
          <p:cNvSpPr txBox="1">
            <a:spLocks/>
          </p:cNvSpPr>
          <p:nvPr/>
        </p:nvSpPr>
        <p:spPr>
          <a:xfrm>
            <a:off x="380999" y="1339342"/>
            <a:ext cx="10977716" cy="4876800"/>
          </a:xfrm>
          <a:prstGeom prst="rect">
            <a:avLst/>
          </a:prstGeom>
        </p:spPr>
        <p:txBody>
          <a:bodyPr/>
          <a:lstStyle>
            <a:lvl1pPr marL="0" indent="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System Font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228600" algn="l" defTabSz="2286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System Font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113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400"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8347634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2445</TotalTime>
  <Words>3413</Words>
  <Application>Microsoft Office PowerPoint</Application>
  <PresentationFormat>Widescreen</PresentationFormat>
  <Paragraphs>343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1" baseType="lpstr">
      <vt:lpstr>Aptos</vt:lpstr>
      <vt:lpstr>Arial</vt:lpstr>
      <vt:lpstr>Calibri</vt:lpstr>
      <vt:lpstr>Consolas</vt:lpstr>
      <vt:lpstr>Cooper Black</vt:lpstr>
      <vt:lpstr>Graphik</vt:lpstr>
      <vt:lpstr>Graphik Light</vt:lpstr>
      <vt:lpstr>Graphik Regular</vt:lpstr>
      <vt:lpstr>GT Sectra Fine</vt:lpstr>
      <vt:lpstr>GT Sectra Fine Rg</vt:lpstr>
      <vt:lpstr>System Font</vt:lpstr>
      <vt:lpstr>1_Office Theme</vt:lpstr>
      <vt:lpstr>Intro to HTML &amp; CSS</vt:lpstr>
      <vt:lpstr>HTML – An Overview</vt:lpstr>
      <vt:lpstr>HTML – An Example</vt:lpstr>
      <vt:lpstr>HTML – An Example</vt:lpstr>
      <vt:lpstr>HTML – Some Key Elements</vt:lpstr>
      <vt:lpstr>HTML – Intro to Attributes</vt:lpstr>
      <vt:lpstr>CSS – Intro to Styling</vt:lpstr>
      <vt:lpstr>CSS – Intro to Styling</vt:lpstr>
      <vt:lpstr>CSS – Intro to Styling</vt:lpstr>
      <vt:lpstr>CSS – Intro to Styling</vt:lpstr>
      <vt:lpstr>CSS – Intro to Styling</vt:lpstr>
      <vt:lpstr>CSS – Intro to Styling</vt:lpstr>
      <vt:lpstr>CSS – Intro to Styling</vt:lpstr>
      <vt:lpstr>HTML &amp; CSS – Images</vt:lpstr>
      <vt:lpstr>HTML &amp; CSS – Navigation</vt:lpstr>
      <vt:lpstr>HTML &amp; CSS – Searching</vt:lpstr>
      <vt:lpstr>Intro to JavaScript</vt:lpstr>
      <vt:lpstr>JavaScript – An Overview</vt:lpstr>
      <vt:lpstr>JavaScript – An Overview</vt:lpstr>
      <vt:lpstr>JavaScript – An Overview</vt:lpstr>
      <vt:lpstr>JavaScript – Variables</vt:lpstr>
      <vt:lpstr>JavaScript – Data Types</vt:lpstr>
      <vt:lpstr>JavaScript – Logic</vt:lpstr>
      <vt:lpstr>JavaScript – Conditional Statements</vt:lpstr>
      <vt:lpstr>JavaScript – Loops</vt:lpstr>
      <vt:lpstr>JavaScript – Functions</vt:lpstr>
      <vt:lpstr>JavaScript – Arrays</vt:lpstr>
      <vt:lpstr>JavaScript – Objects</vt:lpstr>
      <vt:lpstr>JavaScript – Ordering instructions</vt:lpstr>
      <vt:lpstr>JavaScript – Ordering instructions</vt:lpstr>
      <vt:lpstr>JavaScript – A Worked Demo</vt:lpstr>
      <vt:lpstr>Intro to Python  GenAI</vt:lpstr>
      <vt:lpstr>Python – An Overview</vt:lpstr>
      <vt:lpstr>Python – An Overview</vt:lpstr>
      <vt:lpstr>Python –  Control flow — If / For / While </vt:lpstr>
      <vt:lpstr>Python –  Control flow — If / For / While </vt:lpstr>
      <vt:lpstr>Python –  Control flow — If / For / While </vt:lpstr>
      <vt:lpstr>Python –  Functions &amp; Imports 🧠 </vt:lpstr>
      <vt:lpstr>Python –  Code Walkthrough: Read the Files  Quick Guide 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HTML &amp; CSS</dc:title>
  <dc:creator>Davis, Teyah</dc:creator>
  <cp:lastModifiedBy>Mahmood, Hafiz</cp:lastModifiedBy>
  <cp:revision>1</cp:revision>
  <dcterms:created xsi:type="dcterms:W3CDTF">2024-04-08T19:15:06Z</dcterms:created>
  <dcterms:modified xsi:type="dcterms:W3CDTF">2026-02-01T17:22:38Z</dcterms:modified>
</cp:coreProperties>
</file>